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94" r:id="rId3"/>
    <p:sldId id="257" r:id="rId4"/>
    <p:sldId id="258" r:id="rId5"/>
    <p:sldId id="295" r:id="rId6"/>
    <p:sldId id="259" r:id="rId7"/>
    <p:sldId id="260" r:id="rId8"/>
    <p:sldId id="293" r:id="rId9"/>
    <p:sldId id="261" r:id="rId10"/>
    <p:sldId id="262" r:id="rId11"/>
    <p:sldId id="263" r:id="rId12"/>
    <p:sldId id="264" r:id="rId13"/>
    <p:sldId id="278" r:id="rId14"/>
    <p:sldId id="291" r:id="rId15"/>
    <p:sldId id="279" r:id="rId16"/>
    <p:sldId id="292" r:id="rId17"/>
    <p:sldId id="267" r:id="rId18"/>
    <p:sldId id="269" r:id="rId19"/>
    <p:sldId id="270" r:id="rId20"/>
    <p:sldId id="265" r:id="rId21"/>
    <p:sldId id="266" r:id="rId22"/>
    <p:sldId id="268" r:id="rId23"/>
    <p:sldId id="271" r:id="rId24"/>
    <p:sldId id="272" r:id="rId25"/>
    <p:sldId id="273" r:id="rId26"/>
    <p:sldId id="274" r:id="rId27"/>
    <p:sldId id="275" r:id="rId28"/>
    <p:sldId id="276" r:id="rId29"/>
    <p:sldId id="277" r:id="rId30"/>
    <p:sldId id="280" r:id="rId31"/>
    <p:sldId id="281" r:id="rId32"/>
    <p:sldId id="282" r:id="rId33"/>
    <p:sldId id="283" r:id="rId34"/>
    <p:sldId id="284" r:id="rId35"/>
    <p:sldId id="285" r:id="rId36"/>
    <p:sldId id="286" r:id="rId37"/>
    <p:sldId id="287" r:id="rId38"/>
    <p:sldId id="288" r:id="rId39"/>
    <p:sldId id="289" r:id="rId40"/>
    <p:sldId id="296" r:id="rId41"/>
    <p:sldId id="29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236945-C0BC-4570-AEE5-7265AD3A0E2B}">
          <p14:sldIdLst>
            <p14:sldId id="256"/>
            <p14:sldId id="294"/>
            <p14:sldId id="257"/>
            <p14:sldId id="258"/>
            <p14:sldId id="295"/>
            <p14:sldId id="259"/>
            <p14:sldId id="260"/>
            <p14:sldId id="293"/>
            <p14:sldId id="261"/>
            <p14:sldId id="262"/>
            <p14:sldId id="263"/>
            <p14:sldId id="264"/>
            <p14:sldId id="278"/>
            <p14:sldId id="291"/>
            <p14:sldId id="279"/>
            <p14:sldId id="292"/>
            <p14:sldId id="267"/>
            <p14:sldId id="269"/>
            <p14:sldId id="270"/>
            <p14:sldId id="265"/>
            <p14:sldId id="266"/>
            <p14:sldId id="268"/>
            <p14:sldId id="271"/>
            <p14:sldId id="272"/>
            <p14:sldId id="273"/>
            <p14:sldId id="274"/>
            <p14:sldId id="275"/>
            <p14:sldId id="276"/>
            <p14:sldId id="277"/>
            <p14:sldId id="280"/>
            <p14:sldId id="281"/>
            <p14:sldId id="282"/>
            <p14:sldId id="283"/>
            <p14:sldId id="284"/>
            <p14:sldId id="285"/>
            <p14:sldId id="286"/>
            <p14:sldId id="287"/>
            <p14:sldId id="288"/>
            <p14:sldId id="289"/>
            <p14:sldId id="296"/>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5C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4660"/>
  </p:normalViewPr>
  <p:slideViewPr>
    <p:cSldViewPr snapToGrid="0">
      <p:cViewPr varScale="1">
        <p:scale>
          <a:sx n="63" d="100"/>
          <a:sy n="63" d="100"/>
        </p:scale>
        <p:origin x="9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2808755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3942808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4060543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1FA490-8B31-4A20-BCAC-6BB1D6637BA0}" type="datetimeFigureOut">
              <a:rPr lang="en-US" smtClean="0"/>
              <a:t>6/16/2025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1710174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1FA490-8B31-4A20-BCAC-6BB1D6637BA0}" type="datetimeFigureOut">
              <a:rPr lang="en-US" smtClean="0"/>
              <a:t>6/16/2025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3043806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31511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75685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1623691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31FA490-8B31-4A20-BCAC-6BB1D6637BA0}" type="datetimeFigureOut">
              <a:rPr lang="en-US" smtClean="0"/>
              <a:t>6/16/2025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657411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31FA490-8B31-4A20-BCAC-6BB1D6637BA0}" type="datetimeFigureOut">
              <a:rPr lang="en-US" smtClean="0"/>
              <a:t>6/16/2025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838800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3403792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2572076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3364959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330934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31570800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33143222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1FA490-8B31-4A20-BCAC-6BB1D6637BA0}" type="datetimeFigureOut">
              <a:rPr lang="en-US" smtClean="0"/>
              <a:t>6/16/2025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6EF1C-5C0F-45F0-866B-E963047C1015}" type="slidenum">
              <a:rPr lang="en-US" smtClean="0"/>
              <a:t>‹#›</a:t>
            </a:fld>
            <a:endParaRPr lang="en-US"/>
          </a:p>
        </p:txBody>
      </p:sp>
    </p:spTree>
    <p:extLst>
      <p:ext uri="{BB962C8B-B14F-4D97-AF65-F5344CB8AC3E}">
        <p14:creationId xmlns:p14="http://schemas.microsoft.com/office/powerpoint/2010/main" val="559575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31FA490-8B31-4A20-BCAC-6BB1D6637BA0}" type="datetimeFigureOut">
              <a:rPr lang="en-US" smtClean="0"/>
              <a:t>6/16/2025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4C6EF1C-5C0F-45F0-866B-E963047C1015}" type="slidenum">
              <a:rPr lang="en-US" smtClean="0"/>
              <a:t>‹#›</a:t>
            </a:fld>
            <a:endParaRPr lang="en-US"/>
          </a:p>
        </p:txBody>
      </p:sp>
    </p:spTree>
    <p:extLst>
      <p:ext uri="{BB962C8B-B14F-4D97-AF65-F5344CB8AC3E}">
        <p14:creationId xmlns:p14="http://schemas.microsoft.com/office/powerpoint/2010/main" val="2090835491"/>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docs.google.com/spreadsheets/d/1DUF2isFWsqVSYhbaACYtbgcLi_YjDqpE3GLQIVgkKQg/edit#gid=69851113"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0452" y="698863"/>
            <a:ext cx="8825658" cy="3329581"/>
          </a:xfrm>
        </p:spPr>
        <p:txBody>
          <a:bodyPr/>
          <a:lstStyle/>
          <a:p>
            <a:r>
              <a:rPr lang="en-US" sz="5000" b="1" dirty="0"/>
              <a:t>Radiation Dosimetry of</a:t>
            </a:r>
            <a:br>
              <a:rPr lang="en-US" sz="5000" b="1" dirty="0"/>
            </a:br>
            <a:r>
              <a:rPr lang="en-US" sz="5000" b="1" dirty="0"/>
              <a:t>Workers During Different</a:t>
            </a:r>
            <a:br>
              <a:rPr lang="en-US" sz="5000" b="1" dirty="0"/>
            </a:br>
            <a:r>
              <a:rPr lang="en-US" sz="5000" b="1" dirty="0"/>
              <a:t>Dental Imaging Procedures</a:t>
            </a:r>
          </a:p>
        </p:txBody>
      </p:sp>
      <p:sp>
        <p:nvSpPr>
          <p:cNvPr id="3" name="Subtitle 2"/>
          <p:cNvSpPr>
            <a:spLocks noGrp="1"/>
          </p:cNvSpPr>
          <p:nvPr>
            <p:ph type="subTitle" idx="1"/>
          </p:nvPr>
        </p:nvSpPr>
        <p:spPr>
          <a:xfrm>
            <a:off x="1137538" y="4524832"/>
            <a:ext cx="8825658" cy="861420"/>
          </a:xfrm>
        </p:spPr>
        <p:txBody>
          <a:bodyPr>
            <a:noAutofit/>
          </a:bodyPr>
          <a:lstStyle/>
          <a:p>
            <a:r>
              <a:rPr lang="en-US" sz="1700" dirty="0"/>
              <a:t>Ayesha Arif PH-21003</a:t>
            </a:r>
          </a:p>
          <a:p>
            <a:r>
              <a:rPr lang="en-US" sz="1700" dirty="0"/>
              <a:t>Dua Arif PH-21043</a:t>
            </a:r>
          </a:p>
          <a:p>
            <a:r>
              <a:rPr lang="en-US" sz="1700" dirty="0"/>
              <a:t>Hiba Azam PH-21002</a:t>
            </a:r>
          </a:p>
          <a:p>
            <a:r>
              <a:rPr lang="en-US" sz="1700" dirty="0" err="1"/>
              <a:t>Anas</a:t>
            </a:r>
            <a:r>
              <a:rPr lang="en-US" sz="1700" dirty="0"/>
              <a:t> Nawaz PH-21068</a:t>
            </a:r>
          </a:p>
        </p:txBody>
      </p:sp>
    </p:spTree>
    <p:extLst>
      <p:ext uri="{BB962C8B-B14F-4D97-AF65-F5344CB8AC3E}">
        <p14:creationId xmlns:p14="http://schemas.microsoft.com/office/powerpoint/2010/main" val="2631183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000" b="1" dirty="0"/>
              <a:t>Problem Identification and Significance</a:t>
            </a:r>
          </a:p>
        </p:txBody>
      </p:sp>
      <p:sp>
        <p:nvSpPr>
          <p:cNvPr id="3" name="Content Placeholder 2"/>
          <p:cNvSpPr>
            <a:spLocks noGrp="1"/>
          </p:cNvSpPr>
          <p:nvPr>
            <p:ph idx="1"/>
          </p:nvPr>
        </p:nvSpPr>
        <p:spPr>
          <a:xfrm>
            <a:off x="747241" y="2279341"/>
            <a:ext cx="10662439" cy="4195481"/>
          </a:xfrm>
        </p:spPr>
        <p:txBody>
          <a:bodyPr/>
          <a:lstStyle/>
          <a:p>
            <a:r>
              <a:rPr lang="en-US" dirty="0"/>
              <a:t>There is no significant research on dental dosimetry for radiation workers. This knowledge gap inhibits the development of guidelines based on evidence for radiation safety in dental imaging.</a:t>
            </a:r>
          </a:p>
          <a:p>
            <a:r>
              <a:rPr lang="en-US" dirty="0"/>
              <a:t>Dental workers may not receive enough training on radiation safety, dosimetry, and protective measures, which increases the risk of radiation exposure.</a:t>
            </a:r>
          </a:p>
          <a:p>
            <a:r>
              <a:rPr lang="en-US" dirty="0"/>
              <a:t>Different dental procedures involve varying levels of radiation exposure, and there is limited understanding of these differences. This variability makes it challenging to develop effective radiation safety guidelines.</a:t>
            </a:r>
          </a:p>
        </p:txBody>
      </p:sp>
    </p:spTree>
    <p:extLst>
      <p:ext uri="{BB962C8B-B14F-4D97-AF65-F5344CB8AC3E}">
        <p14:creationId xmlns:p14="http://schemas.microsoft.com/office/powerpoint/2010/main" val="2517126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Performing Dosimetry for Dental</a:t>
            </a:r>
            <a:br>
              <a:rPr lang="en-US" b="1" dirty="0"/>
            </a:br>
            <a:r>
              <a:rPr lang="en-US" b="1" dirty="0"/>
              <a:t>Workers</a:t>
            </a:r>
          </a:p>
        </p:txBody>
      </p:sp>
      <p:pic>
        <p:nvPicPr>
          <p:cNvPr id="6" name="Content Placeholder 5"/>
          <p:cNvPicPr>
            <a:picLocks noGrp="1" noChangeAspect="1"/>
          </p:cNvPicPr>
          <p:nvPr>
            <p:ph idx="1"/>
          </p:nvPr>
        </p:nvPicPr>
        <p:blipFill>
          <a:blip r:embed="rId2"/>
          <a:stretch>
            <a:fillRect/>
          </a:stretch>
        </p:blipFill>
        <p:spPr>
          <a:xfrm>
            <a:off x="545528" y="2220243"/>
            <a:ext cx="11211043" cy="3501930"/>
          </a:xfrm>
          <a:prstGeom prst="rect">
            <a:avLst/>
          </a:prstGeom>
        </p:spPr>
      </p:pic>
    </p:spTree>
    <p:extLst>
      <p:ext uri="{BB962C8B-B14F-4D97-AF65-F5344CB8AC3E}">
        <p14:creationId xmlns:p14="http://schemas.microsoft.com/office/powerpoint/2010/main" val="3187644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Literature Review</a:t>
            </a:r>
          </a:p>
        </p:txBody>
      </p:sp>
      <p:pic>
        <p:nvPicPr>
          <p:cNvPr id="4" name="Content Placeholder 3"/>
          <p:cNvPicPr>
            <a:picLocks noGrp="1" noChangeAspect="1"/>
          </p:cNvPicPr>
          <p:nvPr>
            <p:ph idx="1"/>
          </p:nvPr>
        </p:nvPicPr>
        <p:blipFill rotWithShape="1">
          <a:blip r:embed="rId2"/>
          <a:srcRect l="3817"/>
          <a:stretch/>
        </p:blipFill>
        <p:spPr>
          <a:xfrm>
            <a:off x="1375954" y="1277051"/>
            <a:ext cx="9284480" cy="5255082"/>
          </a:xfrm>
          <a:prstGeom prst="rect">
            <a:avLst/>
          </a:prstGeom>
        </p:spPr>
      </p:pic>
    </p:spTree>
    <p:extLst>
      <p:ext uri="{BB962C8B-B14F-4D97-AF65-F5344CB8AC3E}">
        <p14:creationId xmlns:p14="http://schemas.microsoft.com/office/powerpoint/2010/main" val="1095558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000" b="1" dirty="0"/>
              <a:t>Research Gap</a:t>
            </a:r>
          </a:p>
        </p:txBody>
      </p:sp>
      <p:sp>
        <p:nvSpPr>
          <p:cNvPr id="7" name="Rectangle 2"/>
          <p:cNvSpPr>
            <a:spLocks noGrp="1" noChangeArrowheads="1"/>
          </p:cNvSpPr>
          <p:nvPr>
            <p:ph idx="1"/>
          </p:nvPr>
        </p:nvSpPr>
        <p:spPr bwMode="auto">
          <a:xfrm>
            <a:off x="646111" y="1755260"/>
            <a:ext cx="11023375" cy="460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Arial" panose="020B0604020202020204" pitchFamily="34" charset="0"/>
              </a:rPr>
              <a:t>Previous studies on occupational radiation exposure in dental and radiological</a:t>
            </a:r>
            <a:r>
              <a:rPr kumimoji="0" lang="en-US" altLang="en-US" sz="2500" b="0" i="0" u="none" strike="noStrike" cap="none" normalizeH="0" dirty="0">
                <a:ln>
                  <a:noFill/>
                </a:ln>
                <a:solidFill>
                  <a:schemeClr val="tx1"/>
                </a:solidFill>
                <a:effectLst/>
                <a:latin typeface="Arial" panose="020B0604020202020204" pitchFamily="34" charset="0"/>
              </a:rPr>
              <a:t> </a:t>
            </a:r>
            <a:r>
              <a:rPr kumimoji="0" lang="en-US" altLang="en-US" sz="2500" b="0" i="0" u="none" strike="noStrike" cap="none" normalizeH="0" baseline="0" dirty="0">
                <a:ln>
                  <a:noFill/>
                </a:ln>
                <a:solidFill>
                  <a:schemeClr val="tx1"/>
                </a:solidFill>
                <a:effectLst/>
                <a:latin typeface="Arial" panose="020B0604020202020204" pitchFamily="34" charset="0"/>
              </a:rPr>
              <a:t>settings primarily used passive dosimeters like DIS (Direct ion storage), TLD (</a:t>
            </a:r>
            <a:r>
              <a:rPr lang="en-US" altLang="en-US" sz="2500" dirty="0" err="1">
                <a:latin typeface="Arial" panose="020B0604020202020204" pitchFamily="34" charset="0"/>
              </a:rPr>
              <a:t>Thermoluminescent</a:t>
            </a:r>
            <a:r>
              <a:rPr lang="en-US" altLang="en-US" sz="2500" dirty="0">
                <a:latin typeface="Arial" panose="020B0604020202020204" pitchFamily="34" charset="0"/>
              </a:rPr>
              <a:t> dosimeter</a:t>
            </a:r>
            <a:r>
              <a:rPr kumimoji="0" lang="en-US" altLang="en-US" sz="2500" b="0" i="0" u="none" strike="noStrike" cap="none" normalizeH="0" baseline="0" dirty="0">
                <a:ln>
                  <a:noFill/>
                </a:ln>
                <a:solidFill>
                  <a:schemeClr val="tx1"/>
                </a:solidFill>
                <a:effectLst/>
                <a:latin typeface="Arial" panose="020B0604020202020204" pitchFamily="34" charset="0"/>
              </a:rPr>
              <a:t>), and OSL (Optically stimulated luminescence) for long-term, cumulative dose assessments, often without real-time monitoring or detailed analysis of variables such as angle, distance, kVp, and mA. Statistical analysis in the literature was limited, with little use of predictive models. In contrast, this study used the FS2011+ active dosimeter for real-time monitoring and systematically varied exposure parameters. By applying linear and quadratic regression, it introduced a more detailed, predictive approach to dose analysis, addressing key methodological gaps in existing research.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8848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013" y="4841838"/>
            <a:ext cx="9404723" cy="1400530"/>
          </a:xfrm>
        </p:spPr>
        <p:txBody>
          <a:bodyPr/>
          <a:lstStyle/>
          <a:p>
            <a:r>
              <a:rPr lang="en-US" sz="3000" dirty="0"/>
              <a:t>The design shows a layout for a dental</a:t>
            </a:r>
            <a:br>
              <a:rPr lang="en-US" sz="3000" dirty="0"/>
            </a:br>
            <a:r>
              <a:rPr lang="en-US" sz="3000" dirty="0"/>
              <a:t>X-Ray room optimized for </a:t>
            </a:r>
            <a:r>
              <a:rPr lang="en-US" sz="3000" dirty="0" err="1"/>
              <a:t>saftey</a:t>
            </a:r>
            <a:r>
              <a:rPr lang="en-US" sz="3000" dirty="0"/>
              <a:t> and</a:t>
            </a:r>
            <a:br>
              <a:rPr lang="en-US" sz="3000" dirty="0"/>
            </a:br>
            <a:r>
              <a:rPr lang="en-US" sz="3000" dirty="0"/>
              <a:t>effective dose management.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54537" y="2527367"/>
            <a:ext cx="4462757" cy="4025505"/>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723" y="636654"/>
            <a:ext cx="6540843" cy="3781425"/>
          </a:xfrm>
          <a:prstGeom prst="rect">
            <a:avLst/>
          </a:prstGeom>
        </p:spPr>
      </p:pic>
      <p:sp>
        <p:nvSpPr>
          <p:cNvPr id="3" name="Title 1">
            <a:extLst>
              <a:ext uri="{FF2B5EF4-FFF2-40B4-BE49-F238E27FC236}">
                <a16:creationId xmlns:a16="http://schemas.microsoft.com/office/drawing/2014/main" id="{2E284F9B-EC30-8983-CE5E-5F52A027ADEF}"/>
              </a:ext>
            </a:extLst>
          </p:cNvPr>
          <p:cNvSpPr txBox="1">
            <a:spLocks/>
          </p:cNvSpPr>
          <p:nvPr/>
        </p:nvSpPr>
        <p:spPr>
          <a:xfrm>
            <a:off x="870928" y="114229"/>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t>DENTAL X-RAY ROOM(DOW UNIVERSITY)</a:t>
            </a:r>
          </a:p>
        </p:txBody>
      </p:sp>
    </p:spTree>
    <p:extLst>
      <p:ext uri="{BB962C8B-B14F-4D97-AF65-F5344CB8AC3E}">
        <p14:creationId xmlns:p14="http://schemas.microsoft.com/office/powerpoint/2010/main" val="2176562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287255"/>
            <a:ext cx="9404723" cy="1400530"/>
          </a:xfrm>
        </p:spPr>
        <p:txBody>
          <a:bodyPr/>
          <a:lstStyle/>
          <a:p>
            <a:r>
              <a:rPr lang="en-US" sz="5500" b="1" dirty="0"/>
              <a:t>Dosimeters 2011</a:t>
            </a:r>
          </a:p>
        </p:txBody>
      </p:sp>
      <p:sp>
        <p:nvSpPr>
          <p:cNvPr id="3" name="Content Placeholder 2"/>
          <p:cNvSpPr>
            <a:spLocks noGrp="1"/>
          </p:cNvSpPr>
          <p:nvPr>
            <p:ph idx="1"/>
          </p:nvPr>
        </p:nvSpPr>
        <p:spPr>
          <a:xfrm>
            <a:off x="5050971" y="2052918"/>
            <a:ext cx="4998882" cy="4195481"/>
          </a:xfrm>
        </p:spPr>
        <p:txBody>
          <a:bodyPr>
            <a:normAutofit fontScale="85000" lnSpcReduction="20000"/>
          </a:bodyPr>
          <a:lstStyle/>
          <a:p>
            <a:pPr marL="0" indent="0">
              <a:buNone/>
            </a:pPr>
            <a:r>
              <a:rPr lang="id-ID" b="1" dirty="0"/>
              <a:t>Radiation Monitoring </a:t>
            </a:r>
            <a:endParaRPr lang="id-ID" dirty="0"/>
          </a:p>
          <a:p>
            <a:r>
              <a:rPr lang="id-ID" dirty="0"/>
              <a:t>Monitoring radiation exposure in dental settings</a:t>
            </a:r>
            <a:br>
              <a:rPr lang="id-ID" dirty="0"/>
            </a:br>
            <a:r>
              <a:rPr lang="id-ID" dirty="0"/>
              <a:t>ensures the safety of dental workers. Dosimeters</a:t>
            </a:r>
            <a:br>
              <a:rPr lang="id-ID" dirty="0"/>
            </a:br>
            <a:r>
              <a:rPr lang="id-ID" dirty="0"/>
              <a:t>provide accurate and reliable dose measurements.</a:t>
            </a:r>
          </a:p>
          <a:p>
            <a:pPr marL="0" indent="0">
              <a:buNone/>
            </a:pPr>
            <a:endParaRPr lang="id-ID" dirty="0"/>
          </a:p>
          <a:p>
            <a:r>
              <a:rPr lang="id-ID" dirty="0"/>
              <a:t>These devices are calibrated by PINSTECH (Pakistan</a:t>
            </a:r>
            <a:br>
              <a:rPr lang="id-ID" dirty="0"/>
            </a:br>
            <a:r>
              <a:rPr lang="id-ID" dirty="0"/>
              <a:t>Institute of Nuclear Science and Technology) to</a:t>
            </a:r>
            <a:br>
              <a:rPr lang="id-ID" dirty="0"/>
            </a:br>
            <a:r>
              <a:rPr lang="id-ID" dirty="0"/>
              <a:t>meet international standards, ensuring precise</a:t>
            </a:r>
            <a:br>
              <a:rPr lang="id-ID" dirty="0"/>
            </a:br>
            <a:r>
              <a:rPr lang="id-ID" dirty="0"/>
              <a:t>readings in millisieverts (mSv) or microsieverts</a:t>
            </a:r>
            <a:br>
              <a:rPr lang="id-ID" dirty="0"/>
            </a:br>
            <a:r>
              <a:rPr lang="id-ID" dirty="0"/>
              <a:t>(μSv) for effective radiation protection.</a:t>
            </a:r>
          </a:p>
          <a:p>
            <a:endParaRPr lang="en-US" dirty="0"/>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b="18846"/>
          <a:stretch/>
        </p:blipFill>
        <p:spPr>
          <a:xfrm>
            <a:off x="1111976" y="2403566"/>
            <a:ext cx="3396343" cy="3675018"/>
          </a:xfrm>
          <a:prstGeom prst="rect">
            <a:avLst/>
          </a:prstGeom>
        </p:spPr>
      </p:pic>
    </p:spTree>
    <p:extLst>
      <p:ext uri="{BB962C8B-B14F-4D97-AF65-F5344CB8AC3E}">
        <p14:creationId xmlns:p14="http://schemas.microsoft.com/office/powerpoint/2010/main" val="3355879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287255"/>
            <a:ext cx="9404723" cy="1400530"/>
          </a:xfrm>
        </p:spPr>
        <p:txBody>
          <a:bodyPr/>
          <a:lstStyle/>
          <a:p>
            <a:r>
              <a:rPr lang="en-US" sz="5500" b="1" dirty="0"/>
              <a:t>Dosimeters</a:t>
            </a: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b="18846"/>
          <a:stretch/>
        </p:blipFill>
        <p:spPr>
          <a:xfrm>
            <a:off x="1111976" y="2403566"/>
            <a:ext cx="3396343" cy="3675018"/>
          </a:xfrm>
          <a:prstGeom prst="rect">
            <a:avLst/>
          </a:prstGeom>
        </p:spPr>
      </p:pic>
      <p:graphicFrame>
        <p:nvGraphicFramePr>
          <p:cNvPr id="6" name="Content Placeholder 5"/>
          <p:cNvGraphicFramePr>
            <a:graphicFrameLocks noGrp="1"/>
          </p:cNvGraphicFramePr>
          <p:nvPr>
            <p:ph idx="1"/>
            <p:extLst>
              <p:ext uri="{D42A27DB-BD31-4B8C-83A1-F6EECF244321}">
                <p14:modId xmlns:p14="http://schemas.microsoft.com/office/powerpoint/2010/main" val="3187714151"/>
              </p:ext>
            </p:extLst>
          </p:nvPr>
        </p:nvGraphicFramePr>
        <p:xfrm>
          <a:off x="5053155" y="2238991"/>
          <a:ext cx="6220358" cy="3567024"/>
        </p:xfrm>
        <a:graphic>
          <a:graphicData uri="http://schemas.openxmlformats.org/drawingml/2006/table">
            <a:tbl>
              <a:tblPr/>
              <a:tblGrid>
                <a:gridCol w="3110179">
                  <a:extLst>
                    <a:ext uri="{9D8B030D-6E8A-4147-A177-3AD203B41FA5}">
                      <a16:colId xmlns:a16="http://schemas.microsoft.com/office/drawing/2014/main" val="1409551331"/>
                    </a:ext>
                  </a:extLst>
                </a:gridCol>
                <a:gridCol w="3110179">
                  <a:extLst>
                    <a:ext uri="{9D8B030D-6E8A-4147-A177-3AD203B41FA5}">
                      <a16:colId xmlns:a16="http://schemas.microsoft.com/office/drawing/2014/main" val="3977034295"/>
                    </a:ext>
                  </a:extLst>
                </a:gridCol>
              </a:tblGrid>
              <a:tr h="254289">
                <a:tc>
                  <a:txBody>
                    <a:bodyPr/>
                    <a:lstStyle/>
                    <a:p>
                      <a:pPr algn="ctr"/>
                      <a:r>
                        <a:rPr lang="en-US" sz="1500" b="1" dirty="0"/>
                        <a:t>Feature</a:t>
                      </a:r>
                    </a:p>
                  </a:txBody>
                  <a:tcPr marL="63572" marR="63572" marT="31786" marB="31786" anchor="ctr">
                    <a:lnL>
                      <a:noFill/>
                    </a:lnL>
                    <a:lnR>
                      <a:noFill/>
                    </a:lnR>
                    <a:lnT>
                      <a:noFill/>
                    </a:lnT>
                    <a:lnB>
                      <a:noFill/>
                    </a:lnB>
                  </a:tcPr>
                </a:tc>
                <a:tc>
                  <a:txBody>
                    <a:bodyPr/>
                    <a:lstStyle/>
                    <a:p>
                      <a:pPr algn="ctr"/>
                      <a:r>
                        <a:rPr lang="en-US" sz="1500" b="1" dirty="0"/>
                        <a:t>Specification</a:t>
                      </a:r>
                    </a:p>
                  </a:txBody>
                  <a:tcPr marL="63572" marR="63572" marT="31786" marB="31786" anchor="ctr">
                    <a:lnL>
                      <a:noFill/>
                    </a:lnL>
                    <a:lnR>
                      <a:noFill/>
                    </a:lnR>
                    <a:lnT>
                      <a:noFill/>
                    </a:lnT>
                    <a:lnB>
                      <a:noFill/>
                    </a:lnB>
                  </a:tcPr>
                </a:tc>
                <a:extLst>
                  <a:ext uri="{0D108BD9-81ED-4DB2-BD59-A6C34878D82A}">
                    <a16:rowId xmlns:a16="http://schemas.microsoft.com/office/drawing/2014/main" val="3995904098"/>
                  </a:ext>
                </a:extLst>
              </a:tr>
              <a:tr h="254289">
                <a:tc>
                  <a:txBody>
                    <a:bodyPr/>
                    <a:lstStyle/>
                    <a:p>
                      <a:r>
                        <a:rPr lang="en-US" sz="1300" dirty="0"/>
                        <a:t>Radiation types</a:t>
                      </a:r>
                    </a:p>
                  </a:txBody>
                  <a:tcPr marL="63572" marR="63572" marT="31786" marB="31786" anchor="ctr">
                    <a:lnL>
                      <a:noFill/>
                    </a:lnL>
                    <a:lnR>
                      <a:noFill/>
                    </a:lnR>
                    <a:lnT>
                      <a:noFill/>
                    </a:lnT>
                    <a:lnB>
                      <a:noFill/>
                    </a:lnB>
                  </a:tcPr>
                </a:tc>
                <a:tc>
                  <a:txBody>
                    <a:bodyPr/>
                    <a:lstStyle/>
                    <a:p>
                      <a:r>
                        <a:rPr lang="en-US" sz="1300" dirty="0"/>
                        <a:t>X, </a:t>
                      </a:r>
                      <a:r>
                        <a:rPr lang="el-GR" sz="1300" dirty="0"/>
                        <a:t>γ, β</a:t>
                      </a:r>
                    </a:p>
                  </a:txBody>
                  <a:tcPr marL="63572" marR="63572" marT="31786" marB="31786" anchor="ctr">
                    <a:lnL>
                      <a:noFill/>
                    </a:lnL>
                    <a:lnR>
                      <a:noFill/>
                    </a:lnR>
                    <a:lnT>
                      <a:noFill/>
                    </a:lnT>
                    <a:lnB>
                      <a:noFill/>
                    </a:lnB>
                  </a:tcPr>
                </a:tc>
                <a:extLst>
                  <a:ext uri="{0D108BD9-81ED-4DB2-BD59-A6C34878D82A}">
                    <a16:rowId xmlns:a16="http://schemas.microsoft.com/office/drawing/2014/main" val="3628113883"/>
                  </a:ext>
                </a:extLst>
              </a:tr>
              <a:tr h="254289">
                <a:tc>
                  <a:txBody>
                    <a:bodyPr/>
                    <a:lstStyle/>
                    <a:p>
                      <a:r>
                        <a:rPr lang="en-US" sz="1300"/>
                        <a:t>Dose‑rate range</a:t>
                      </a:r>
                    </a:p>
                  </a:txBody>
                  <a:tcPr marL="63572" marR="63572" marT="31786" marB="31786" anchor="ctr">
                    <a:lnL>
                      <a:noFill/>
                    </a:lnL>
                    <a:lnR>
                      <a:noFill/>
                    </a:lnR>
                    <a:lnT>
                      <a:noFill/>
                    </a:lnT>
                    <a:lnB>
                      <a:noFill/>
                    </a:lnB>
                  </a:tcPr>
                </a:tc>
                <a:tc>
                  <a:txBody>
                    <a:bodyPr/>
                    <a:lstStyle/>
                    <a:p>
                      <a:r>
                        <a:rPr lang="en-US" sz="1300"/>
                        <a:t>0.01–1,000 μSv/h (up to 10 mSv/h max)</a:t>
                      </a:r>
                    </a:p>
                  </a:txBody>
                  <a:tcPr marL="63572" marR="63572" marT="31786" marB="31786" anchor="ctr">
                    <a:lnL>
                      <a:noFill/>
                    </a:lnL>
                    <a:lnR>
                      <a:noFill/>
                    </a:lnR>
                    <a:lnT>
                      <a:noFill/>
                    </a:lnT>
                    <a:lnB>
                      <a:noFill/>
                    </a:lnB>
                  </a:tcPr>
                </a:tc>
                <a:extLst>
                  <a:ext uri="{0D108BD9-81ED-4DB2-BD59-A6C34878D82A}">
                    <a16:rowId xmlns:a16="http://schemas.microsoft.com/office/drawing/2014/main" val="1902069172"/>
                  </a:ext>
                </a:extLst>
              </a:tr>
              <a:tr h="254289">
                <a:tc>
                  <a:txBody>
                    <a:bodyPr/>
                    <a:lstStyle/>
                    <a:p>
                      <a:r>
                        <a:rPr lang="en-US" sz="1300" dirty="0"/>
                        <a:t>Energy window</a:t>
                      </a:r>
                    </a:p>
                  </a:txBody>
                  <a:tcPr marL="63572" marR="63572" marT="31786" marB="31786" anchor="ctr">
                    <a:lnL>
                      <a:noFill/>
                    </a:lnL>
                    <a:lnR>
                      <a:noFill/>
                    </a:lnR>
                    <a:lnT>
                      <a:noFill/>
                    </a:lnT>
                    <a:lnB>
                      <a:noFill/>
                    </a:lnB>
                  </a:tcPr>
                </a:tc>
                <a:tc>
                  <a:txBody>
                    <a:bodyPr/>
                    <a:lstStyle/>
                    <a:p>
                      <a:r>
                        <a:rPr lang="en-US" sz="1300" dirty="0"/>
                        <a:t>~48 </a:t>
                      </a:r>
                      <a:r>
                        <a:rPr lang="en-US" sz="1300" dirty="0" err="1"/>
                        <a:t>keV</a:t>
                      </a:r>
                      <a:r>
                        <a:rPr lang="en-US" sz="1300" dirty="0"/>
                        <a:t>–1.5 MeV (±30%)</a:t>
                      </a:r>
                    </a:p>
                  </a:txBody>
                  <a:tcPr marL="63572" marR="63572" marT="31786" marB="31786" anchor="ctr">
                    <a:lnL>
                      <a:noFill/>
                    </a:lnL>
                    <a:lnR>
                      <a:noFill/>
                    </a:lnR>
                    <a:lnT>
                      <a:noFill/>
                    </a:lnT>
                    <a:lnB>
                      <a:noFill/>
                    </a:lnB>
                  </a:tcPr>
                </a:tc>
                <a:extLst>
                  <a:ext uri="{0D108BD9-81ED-4DB2-BD59-A6C34878D82A}">
                    <a16:rowId xmlns:a16="http://schemas.microsoft.com/office/drawing/2014/main" val="1627314278"/>
                  </a:ext>
                </a:extLst>
              </a:tr>
              <a:tr h="254289">
                <a:tc>
                  <a:txBody>
                    <a:bodyPr/>
                    <a:lstStyle/>
                    <a:p>
                      <a:r>
                        <a:rPr lang="en-US" sz="1300" dirty="0"/>
                        <a:t>Accuracy</a:t>
                      </a:r>
                    </a:p>
                  </a:txBody>
                  <a:tcPr marL="63572" marR="63572" marT="31786" marB="31786" anchor="ctr">
                    <a:lnL>
                      <a:noFill/>
                    </a:lnL>
                    <a:lnR>
                      <a:noFill/>
                    </a:lnR>
                    <a:lnT>
                      <a:noFill/>
                    </a:lnT>
                    <a:lnB>
                      <a:noFill/>
                    </a:lnB>
                  </a:tcPr>
                </a:tc>
                <a:tc>
                  <a:txBody>
                    <a:bodyPr/>
                    <a:lstStyle/>
                    <a:p>
                      <a:r>
                        <a:rPr lang="da-DK" sz="1300"/>
                        <a:t>±5–15% at 137Cs, 1 mSv/h</a:t>
                      </a:r>
                    </a:p>
                  </a:txBody>
                  <a:tcPr marL="63572" marR="63572" marT="31786" marB="31786" anchor="ctr">
                    <a:lnL>
                      <a:noFill/>
                    </a:lnL>
                    <a:lnR>
                      <a:noFill/>
                    </a:lnR>
                    <a:lnT>
                      <a:noFill/>
                    </a:lnT>
                    <a:lnB>
                      <a:noFill/>
                    </a:lnB>
                  </a:tcPr>
                </a:tc>
                <a:extLst>
                  <a:ext uri="{0D108BD9-81ED-4DB2-BD59-A6C34878D82A}">
                    <a16:rowId xmlns:a16="http://schemas.microsoft.com/office/drawing/2014/main" val="2980903617"/>
                  </a:ext>
                </a:extLst>
              </a:tr>
              <a:tr h="254289">
                <a:tc>
                  <a:txBody>
                    <a:bodyPr/>
                    <a:lstStyle/>
                    <a:p>
                      <a:r>
                        <a:rPr lang="en-US" sz="1300"/>
                        <a:t>Response time</a:t>
                      </a:r>
                    </a:p>
                  </a:txBody>
                  <a:tcPr marL="63572" marR="63572" marT="31786" marB="31786" anchor="ctr">
                    <a:lnL>
                      <a:noFill/>
                    </a:lnL>
                    <a:lnR>
                      <a:noFill/>
                    </a:lnR>
                    <a:lnT>
                      <a:noFill/>
                    </a:lnT>
                    <a:lnB>
                      <a:noFill/>
                    </a:lnB>
                  </a:tcPr>
                </a:tc>
                <a:tc>
                  <a:txBody>
                    <a:bodyPr/>
                    <a:lstStyle/>
                    <a:p>
                      <a:r>
                        <a:rPr lang="en-US" sz="1300"/>
                        <a:t>&lt;5 s</a:t>
                      </a:r>
                    </a:p>
                  </a:txBody>
                  <a:tcPr marL="63572" marR="63572" marT="31786" marB="31786" anchor="ctr">
                    <a:lnL>
                      <a:noFill/>
                    </a:lnL>
                    <a:lnR>
                      <a:noFill/>
                    </a:lnR>
                    <a:lnT>
                      <a:noFill/>
                    </a:lnT>
                    <a:lnB>
                      <a:noFill/>
                    </a:lnB>
                  </a:tcPr>
                </a:tc>
                <a:extLst>
                  <a:ext uri="{0D108BD9-81ED-4DB2-BD59-A6C34878D82A}">
                    <a16:rowId xmlns:a16="http://schemas.microsoft.com/office/drawing/2014/main" val="2121287325"/>
                  </a:ext>
                </a:extLst>
              </a:tr>
              <a:tr h="254289">
                <a:tc>
                  <a:txBody>
                    <a:bodyPr/>
                    <a:lstStyle/>
                    <a:p>
                      <a:r>
                        <a:rPr lang="en-US" sz="1300" dirty="0"/>
                        <a:t>Units</a:t>
                      </a:r>
                    </a:p>
                  </a:txBody>
                  <a:tcPr marL="63572" marR="63572" marT="31786" marB="31786" anchor="ctr">
                    <a:lnL>
                      <a:noFill/>
                    </a:lnL>
                    <a:lnR>
                      <a:noFill/>
                    </a:lnR>
                    <a:lnT>
                      <a:noFill/>
                    </a:lnT>
                    <a:lnB>
                      <a:noFill/>
                    </a:lnB>
                  </a:tcPr>
                </a:tc>
                <a:tc>
                  <a:txBody>
                    <a:bodyPr/>
                    <a:lstStyle/>
                    <a:p>
                      <a:r>
                        <a:rPr lang="pt-BR" sz="1300"/>
                        <a:t>μSv/h, μGy/h, mR/h, CPS, CPM</a:t>
                      </a:r>
                    </a:p>
                  </a:txBody>
                  <a:tcPr marL="63572" marR="63572" marT="31786" marB="31786" anchor="ctr">
                    <a:lnL>
                      <a:noFill/>
                    </a:lnL>
                    <a:lnR>
                      <a:noFill/>
                    </a:lnR>
                    <a:lnT>
                      <a:noFill/>
                    </a:lnT>
                    <a:lnB>
                      <a:noFill/>
                    </a:lnB>
                  </a:tcPr>
                </a:tc>
                <a:extLst>
                  <a:ext uri="{0D108BD9-81ED-4DB2-BD59-A6C34878D82A}">
                    <a16:rowId xmlns:a16="http://schemas.microsoft.com/office/drawing/2014/main" val="2586026102"/>
                  </a:ext>
                </a:extLst>
              </a:tr>
              <a:tr h="445005">
                <a:tc>
                  <a:txBody>
                    <a:bodyPr/>
                    <a:lstStyle/>
                    <a:p>
                      <a:r>
                        <a:rPr lang="en-US" sz="1300" dirty="0"/>
                        <a:t>Display</a:t>
                      </a:r>
                    </a:p>
                  </a:txBody>
                  <a:tcPr marL="63572" marR="63572" marT="31786" marB="31786" anchor="ctr">
                    <a:lnL>
                      <a:noFill/>
                    </a:lnL>
                    <a:lnR>
                      <a:noFill/>
                    </a:lnR>
                    <a:lnT>
                      <a:noFill/>
                    </a:lnT>
                    <a:lnB>
                      <a:noFill/>
                    </a:lnB>
                  </a:tcPr>
                </a:tc>
                <a:tc>
                  <a:txBody>
                    <a:bodyPr/>
                    <a:lstStyle/>
                    <a:p>
                      <a:r>
                        <a:rPr lang="en-US" sz="1300"/>
                        <a:t>Graphic LCD, backlight, multi-language</a:t>
                      </a:r>
                    </a:p>
                  </a:txBody>
                  <a:tcPr marL="63572" marR="63572" marT="31786" marB="31786" anchor="ctr">
                    <a:lnL>
                      <a:noFill/>
                    </a:lnL>
                    <a:lnR>
                      <a:noFill/>
                    </a:lnR>
                    <a:lnT>
                      <a:noFill/>
                    </a:lnT>
                    <a:lnB>
                      <a:noFill/>
                    </a:lnB>
                  </a:tcPr>
                </a:tc>
                <a:extLst>
                  <a:ext uri="{0D108BD9-81ED-4DB2-BD59-A6C34878D82A}">
                    <a16:rowId xmlns:a16="http://schemas.microsoft.com/office/drawing/2014/main" val="1964157858"/>
                  </a:ext>
                </a:extLst>
              </a:tr>
              <a:tr h="181270">
                <a:tc>
                  <a:txBody>
                    <a:bodyPr/>
                    <a:lstStyle/>
                    <a:p>
                      <a:endParaRPr lang="en-US" sz="1300" dirty="0"/>
                    </a:p>
                  </a:txBody>
                  <a:tcPr marL="63572" marR="63572" marT="31786" marB="31786" anchor="ctr">
                    <a:lnL>
                      <a:noFill/>
                    </a:lnL>
                    <a:lnR>
                      <a:noFill/>
                    </a:lnR>
                    <a:lnT>
                      <a:noFill/>
                    </a:lnT>
                    <a:lnB>
                      <a:noFill/>
                    </a:lnB>
                  </a:tcPr>
                </a:tc>
                <a:tc>
                  <a:txBody>
                    <a:bodyPr/>
                    <a:lstStyle/>
                    <a:p>
                      <a:endParaRPr lang="en-US" sz="1300" dirty="0"/>
                    </a:p>
                  </a:txBody>
                  <a:tcPr marL="63572" marR="63572" marT="31786" marB="31786" anchor="ctr">
                    <a:lnL>
                      <a:noFill/>
                    </a:lnL>
                    <a:lnR>
                      <a:noFill/>
                    </a:lnR>
                    <a:lnT>
                      <a:noFill/>
                    </a:lnT>
                    <a:lnB>
                      <a:noFill/>
                    </a:lnB>
                  </a:tcPr>
                </a:tc>
                <a:extLst>
                  <a:ext uri="{0D108BD9-81ED-4DB2-BD59-A6C34878D82A}">
                    <a16:rowId xmlns:a16="http://schemas.microsoft.com/office/drawing/2014/main" val="1046769690"/>
                  </a:ext>
                </a:extLst>
              </a:tr>
              <a:tr h="254289">
                <a:tc>
                  <a:txBody>
                    <a:bodyPr/>
                    <a:lstStyle/>
                    <a:p>
                      <a:r>
                        <a:rPr lang="en-US" sz="1300"/>
                        <a:t>Power</a:t>
                      </a:r>
                    </a:p>
                  </a:txBody>
                  <a:tcPr marL="63572" marR="63572" marT="31786" marB="31786" anchor="ctr">
                    <a:lnL>
                      <a:noFill/>
                    </a:lnL>
                    <a:lnR>
                      <a:noFill/>
                    </a:lnR>
                    <a:lnT>
                      <a:noFill/>
                    </a:lnT>
                    <a:lnB>
                      <a:noFill/>
                    </a:lnB>
                  </a:tcPr>
                </a:tc>
                <a:tc>
                  <a:txBody>
                    <a:bodyPr/>
                    <a:lstStyle/>
                    <a:p>
                      <a:r>
                        <a:rPr lang="en-US" sz="1300"/>
                        <a:t>2×AA batteries, low-battery warning</a:t>
                      </a:r>
                    </a:p>
                  </a:txBody>
                  <a:tcPr marL="63572" marR="63572" marT="31786" marB="31786" anchor="ctr">
                    <a:lnL>
                      <a:noFill/>
                    </a:lnL>
                    <a:lnR>
                      <a:noFill/>
                    </a:lnR>
                    <a:lnT>
                      <a:noFill/>
                    </a:lnT>
                    <a:lnB>
                      <a:noFill/>
                    </a:lnB>
                  </a:tcPr>
                </a:tc>
                <a:extLst>
                  <a:ext uri="{0D108BD9-81ED-4DB2-BD59-A6C34878D82A}">
                    <a16:rowId xmlns:a16="http://schemas.microsoft.com/office/drawing/2014/main" val="1895345987"/>
                  </a:ext>
                </a:extLst>
              </a:tr>
              <a:tr h="254289">
                <a:tc>
                  <a:txBody>
                    <a:bodyPr/>
                    <a:lstStyle/>
                    <a:p>
                      <a:r>
                        <a:rPr lang="en-US" sz="1300"/>
                        <a:t>Size / Weight</a:t>
                      </a:r>
                    </a:p>
                  </a:txBody>
                  <a:tcPr marL="63572" marR="63572" marT="31786" marB="31786" anchor="ctr">
                    <a:lnL>
                      <a:noFill/>
                    </a:lnL>
                    <a:lnR>
                      <a:noFill/>
                    </a:lnR>
                    <a:lnT>
                      <a:noFill/>
                    </a:lnT>
                    <a:lnB>
                      <a:noFill/>
                    </a:lnB>
                  </a:tcPr>
                </a:tc>
                <a:tc>
                  <a:txBody>
                    <a:bodyPr/>
                    <a:lstStyle/>
                    <a:p>
                      <a:r>
                        <a:rPr lang="en-US" sz="1300"/>
                        <a:t>~99×69×24 mm; 110–135 g</a:t>
                      </a:r>
                    </a:p>
                  </a:txBody>
                  <a:tcPr marL="63572" marR="63572" marT="31786" marB="31786" anchor="ctr">
                    <a:lnL>
                      <a:noFill/>
                    </a:lnL>
                    <a:lnR>
                      <a:noFill/>
                    </a:lnR>
                    <a:lnT>
                      <a:noFill/>
                    </a:lnT>
                    <a:lnB>
                      <a:noFill/>
                    </a:lnB>
                  </a:tcPr>
                </a:tc>
                <a:extLst>
                  <a:ext uri="{0D108BD9-81ED-4DB2-BD59-A6C34878D82A}">
                    <a16:rowId xmlns:a16="http://schemas.microsoft.com/office/drawing/2014/main" val="549774482"/>
                  </a:ext>
                </a:extLst>
              </a:tr>
              <a:tr h="254289">
                <a:tc>
                  <a:txBody>
                    <a:bodyPr/>
                    <a:lstStyle/>
                    <a:p>
                      <a:r>
                        <a:rPr lang="en-US" sz="1300" dirty="0"/>
                        <a:t>Operating </a:t>
                      </a:r>
                      <a:r>
                        <a:rPr lang="en-US" sz="1300" dirty="0" err="1"/>
                        <a:t>env</a:t>
                      </a:r>
                      <a:r>
                        <a:rPr lang="en-US" sz="1300" dirty="0"/>
                        <a:t>.</a:t>
                      </a:r>
                    </a:p>
                  </a:txBody>
                  <a:tcPr marL="63572" marR="63572" marT="31786" marB="31786" anchor="ctr">
                    <a:lnL>
                      <a:noFill/>
                    </a:lnL>
                    <a:lnR>
                      <a:noFill/>
                    </a:lnR>
                    <a:lnT>
                      <a:noFill/>
                    </a:lnT>
                    <a:lnB>
                      <a:noFill/>
                    </a:lnB>
                  </a:tcPr>
                </a:tc>
                <a:tc>
                  <a:txBody>
                    <a:bodyPr/>
                    <a:lstStyle/>
                    <a:p>
                      <a:r>
                        <a:rPr lang="en-US" sz="1300" dirty="0"/>
                        <a:t>−10 to +45 °C; ≤95% RH</a:t>
                      </a:r>
                    </a:p>
                  </a:txBody>
                  <a:tcPr marL="63572" marR="63572" marT="31786" marB="31786" anchor="ctr">
                    <a:lnL>
                      <a:noFill/>
                    </a:lnL>
                    <a:lnR>
                      <a:noFill/>
                    </a:lnR>
                    <a:lnT>
                      <a:noFill/>
                    </a:lnT>
                    <a:lnB>
                      <a:noFill/>
                    </a:lnB>
                  </a:tcPr>
                </a:tc>
                <a:extLst>
                  <a:ext uri="{0D108BD9-81ED-4DB2-BD59-A6C34878D82A}">
                    <a16:rowId xmlns:a16="http://schemas.microsoft.com/office/drawing/2014/main" val="2248933024"/>
                  </a:ext>
                </a:extLst>
              </a:tr>
            </a:tbl>
          </a:graphicData>
        </a:graphic>
      </p:graphicFrame>
      <p:sp>
        <p:nvSpPr>
          <p:cNvPr id="7" name="Rectangle 1"/>
          <p:cNvSpPr>
            <a:spLocks noChangeArrowheads="1"/>
          </p:cNvSpPr>
          <p:nvPr/>
        </p:nvSpPr>
        <p:spPr bwMode="auto">
          <a:xfrm>
            <a:off x="2586446" y="8708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itle 1">
            <a:extLst>
              <a:ext uri="{FF2B5EF4-FFF2-40B4-BE49-F238E27FC236}">
                <a16:creationId xmlns:a16="http://schemas.microsoft.com/office/drawing/2014/main" id="{559D8878-7344-CE53-7CBE-B6F1B758C8EB}"/>
              </a:ext>
            </a:extLst>
          </p:cNvPr>
          <p:cNvSpPr txBox="1">
            <a:spLocks/>
          </p:cNvSpPr>
          <p:nvPr/>
        </p:nvSpPr>
        <p:spPr>
          <a:xfrm>
            <a:off x="918487" y="987520"/>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500" b="1" dirty="0"/>
              <a:t>Specifications (manual)</a:t>
            </a:r>
          </a:p>
        </p:txBody>
      </p:sp>
    </p:spTree>
    <p:extLst>
      <p:ext uri="{BB962C8B-B14F-4D97-AF65-F5344CB8AC3E}">
        <p14:creationId xmlns:p14="http://schemas.microsoft.com/office/powerpoint/2010/main" val="3120969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b="1" dirty="0"/>
              <a:t>Methodology</a:t>
            </a:r>
          </a:p>
        </p:txBody>
      </p:sp>
      <p:pic>
        <p:nvPicPr>
          <p:cNvPr id="4" name="Content Placeholder 3"/>
          <p:cNvPicPr>
            <a:picLocks noGrp="1" noChangeAspect="1"/>
          </p:cNvPicPr>
          <p:nvPr>
            <p:ph idx="1"/>
          </p:nvPr>
        </p:nvPicPr>
        <p:blipFill>
          <a:blip r:embed="rId2"/>
          <a:stretch>
            <a:fillRect/>
          </a:stretch>
        </p:blipFill>
        <p:spPr>
          <a:xfrm>
            <a:off x="646111" y="1651731"/>
            <a:ext cx="10948201" cy="4766486"/>
          </a:xfrm>
          <a:prstGeom prst="rect">
            <a:avLst/>
          </a:prstGeom>
        </p:spPr>
      </p:pic>
    </p:spTree>
    <p:extLst>
      <p:ext uri="{BB962C8B-B14F-4D97-AF65-F5344CB8AC3E}">
        <p14:creationId xmlns:p14="http://schemas.microsoft.com/office/powerpoint/2010/main" val="4003849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709" y="470135"/>
            <a:ext cx="9404723" cy="1400530"/>
          </a:xfrm>
        </p:spPr>
        <p:txBody>
          <a:bodyPr/>
          <a:lstStyle/>
          <a:p>
            <a:r>
              <a:rPr lang="en-US" sz="3500" b="1" dirty="0"/>
              <a:t>Methodology – Radiation Dose Measurement in Dental Radiography</a:t>
            </a:r>
          </a:p>
        </p:txBody>
      </p:sp>
      <p:sp>
        <p:nvSpPr>
          <p:cNvPr id="3" name="Content Placeholder 2"/>
          <p:cNvSpPr>
            <a:spLocks noGrp="1"/>
          </p:cNvSpPr>
          <p:nvPr>
            <p:ph idx="1"/>
          </p:nvPr>
        </p:nvSpPr>
        <p:spPr>
          <a:xfrm>
            <a:off x="511129" y="2105169"/>
            <a:ext cx="8946541" cy="4195481"/>
          </a:xfrm>
        </p:spPr>
        <p:txBody>
          <a:bodyPr>
            <a:normAutofit fontScale="85000" lnSpcReduction="20000"/>
          </a:bodyPr>
          <a:lstStyle/>
          <a:p>
            <a:pPr marL="0" indent="0">
              <a:buNone/>
            </a:pPr>
            <a:r>
              <a:rPr lang="en-US" b="1" dirty="0"/>
              <a:t>Objective:</a:t>
            </a:r>
            <a:endParaRPr lang="en-US" dirty="0"/>
          </a:p>
          <a:p>
            <a:r>
              <a:rPr lang="en-US" dirty="0"/>
              <a:t>To evaluate variation in radiation dose rate with changes in X-ray settings, angle, and distance—</a:t>
            </a:r>
            <a:br>
              <a:rPr lang="en-US" dirty="0"/>
            </a:br>
            <a:r>
              <a:rPr lang="en-US" dirty="0"/>
              <a:t>replicating clinical intraoral imaging scenarios.</a:t>
            </a:r>
          </a:p>
          <a:p>
            <a:pPr marL="0" indent="0">
              <a:buNone/>
            </a:pPr>
            <a:endParaRPr lang="en-US" dirty="0"/>
          </a:p>
          <a:p>
            <a:pPr marL="0" indent="0">
              <a:buNone/>
            </a:pPr>
            <a:r>
              <a:rPr lang="en-US" b="1" dirty="0"/>
              <a:t>Exposure Settings Used:</a:t>
            </a:r>
            <a:endParaRPr lang="en-US" dirty="0"/>
          </a:p>
          <a:p>
            <a:r>
              <a:rPr lang="en-US" dirty="0"/>
              <a:t>70 </a:t>
            </a:r>
            <a:r>
              <a:rPr lang="en-US" dirty="0" err="1"/>
              <a:t>kVp</a:t>
            </a:r>
            <a:r>
              <a:rPr lang="en-US" dirty="0"/>
              <a:t>, 7 mA (high-energy setup)</a:t>
            </a:r>
          </a:p>
          <a:p>
            <a:r>
              <a:rPr lang="en-US" dirty="0"/>
              <a:t>60 </a:t>
            </a:r>
            <a:r>
              <a:rPr lang="en-US" dirty="0" err="1"/>
              <a:t>kVp</a:t>
            </a:r>
            <a:r>
              <a:rPr lang="en-US" dirty="0"/>
              <a:t>, 4 mA (routine dental setting)</a:t>
            </a:r>
            <a:br>
              <a:rPr lang="en-US" dirty="0"/>
            </a:br>
            <a:endParaRPr lang="en-US" dirty="0"/>
          </a:p>
          <a:p>
            <a:pPr marL="0" indent="0">
              <a:buNone/>
            </a:pPr>
            <a:r>
              <a:rPr lang="en-US" b="1" dirty="0"/>
              <a:t>Measurements Taken:</a:t>
            </a:r>
            <a:endParaRPr lang="en-US" dirty="0"/>
          </a:p>
          <a:p>
            <a:r>
              <a:rPr lang="en-US" dirty="0"/>
              <a:t>Angles: 0°, 45°, 90°, 135°, 180°, 215°, 270°, 315°, 360° (full 360° coverage)</a:t>
            </a:r>
          </a:p>
          <a:p>
            <a:r>
              <a:rPr lang="en-US" dirty="0"/>
              <a:t>Distances: 8", 16", and 24" from X-ray source</a:t>
            </a:r>
          </a:p>
          <a:p>
            <a:r>
              <a:rPr lang="en-US" dirty="0"/>
              <a:t>Unit: Dose rate in µ</a:t>
            </a:r>
            <a:r>
              <a:rPr lang="en-US" dirty="0" err="1"/>
              <a:t>Sv</a:t>
            </a:r>
            <a:r>
              <a:rPr lang="en-US" dirty="0"/>
              <a:t>/s (</a:t>
            </a:r>
            <a:r>
              <a:rPr lang="en-US" dirty="0" err="1"/>
              <a:t>microSieverts</a:t>
            </a:r>
            <a:r>
              <a:rPr lang="en-US" dirty="0"/>
              <a:t> per second)</a:t>
            </a:r>
          </a:p>
        </p:txBody>
      </p:sp>
      <p:pic>
        <p:nvPicPr>
          <p:cNvPr id="4" name="Picture 3"/>
          <p:cNvPicPr>
            <a:picLocks noChangeAspect="1"/>
          </p:cNvPicPr>
          <p:nvPr/>
        </p:nvPicPr>
        <p:blipFill>
          <a:blip r:embed="rId2"/>
          <a:stretch>
            <a:fillRect/>
          </a:stretch>
        </p:blipFill>
        <p:spPr>
          <a:xfrm>
            <a:off x="8752114" y="2863384"/>
            <a:ext cx="3152502" cy="3841285"/>
          </a:xfrm>
          <a:prstGeom prst="rect">
            <a:avLst/>
          </a:prstGeom>
        </p:spPr>
      </p:pic>
    </p:spTree>
    <p:extLst>
      <p:ext uri="{BB962C8B-B14F-4D97-AF65-F5344CB8AC3E}">
        <p14:creationId xmlns:p14="http://schemas.microsoft.com/office/powerpoint/2010/main" val="588526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Methodology – Data Collection Process</a:t>
            </a:r>
          </a:p>
        </p:txBody>
      </p:sp>
      <p:sp>
        <p:nvSpPr>
          <p:cNvPr id="3" name="Content Placeholder 2"/>
          <p:cNvSpPr>
            <a:spLocks noGrp="1"/>
          </p:cNvSpPr>
          <p:nvPr>
            <p:ph idx="1"/>
          </p:nvPr>
        </p:nvSpPr>
        <p:spPr>
          <a:xfrm>
            <a:off x="528546" y="2157421"/>
            <a:ext cx="8946541" cy="4195481"/>
          </a:xfrm>
        </p:spPr>
        <p:txBody>
          <a:bodyPr>
            <a:normAutofit lnSpcReduction="10000"/>
          </a:bodyPr>
          <a:lstStyle/>
          <a:p>
            <a:pPr marL="0" indent="0">
              <a:buNone/>
            </a:pPr>
            <a:r>
              <a:rPr lang="en-US" b="1" dirty="0"/>
              <a:t>1. Preparation:</a:t>
            </a:r>
            <a:endParaRPr lang="en-US" dirty="0"/>
          </a:p>
          <a:p>
            <a:r>
              <a:rPr lang="en-US" dirty="0"/>
              <a:t>Equipment setup (X-ray machine + survey dosimeter)</a:t>
            </a:r>
          </a:p>
          <a:p>
            <a:r>
              <a:rPr lang="en-US" dirty="0"/>
              <a:t>Radiation safety checks (e.g., lead aprons)</a:t>
            </a:r>
          </a:p>
          <a:p>
            <a:r>
              <a:rPr lang="en-US" dirty="0"/>
              <a:t>Initial setting: 70 kVp at 7 mA</a:t>
            </a:r>
          </a:p>
          <a:p>
            <a:pPr marL="0" indent="0">
              <a:buNone/>
            </a:pPr>
            <a:endParaRPr lang="en-US" dirty="0"/>
          </a:p>
          <a:p>
            <a:pPr marL="0" indent="0">
              <a:buNone/>
            </a:pPr>
            <a:r>
              <a:rPr lang="en-US" b="1" dirty="0"/>
              <a:t>2. Measurement Procedure:</a:t>
            </a:r>
            <a:endParaRPr lang="en-US" dirty="0"/>
          </a:p>
          <a:p>
            <a:r>
              <a:rPr lang="en-US" dirty="0"/>
              <a:t>Place dosimeter at 0°, 8" from source → take reading</a:t>
            </a:r>
          </a:p>
          <a:p>
            <a:r>
              <a:rPr lang="en-US" dirty="0"/>
              <a:t>Rotate in 45° increments → take readings up to 360°</a:t>
            </a:r>
          </a:p>
          <a:p>
            <a:r>
              <a:rPr lang="en-US" dirty="0"/>
              <a:t>Repeat for 16" and 24" distances</a:t>
            </a:r>
          </a:p>
          <a:p>
            <a:r>
              <a:rPr lang="en-US" dirty="0"/>
              <a:t>Switch to 60 </a:t>
            </a:r>
            <a:r>
              <a:rPr lang="en-US" dirty="0" err="1"/>
              <a:t>kVp</a:t>
            </a:r>
            <a:r>
              <a:rPr lang="en-US" dirty="0"/>
              <a:t> at 4 mA → repeat full angle-distance procedure</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91747" y="2831011"/>
            <a:ext cx="2954927" cy="3939903"/>
          </a:xfrm>
          <a:prstGeom prst="rect">
            <a:avLst/>
          </a:prstGeom>
        </p:spPr>
      </p:pic>
    </p:spTree>
    <p:extLst>
      <p:ext uri="{BB962C8B-B14F-4D97-AF65-F5344CB8AC3E}">
        <p14:creationId xmlns:p14="http://schemas.microsoft.com/office/powerpoint/2010/main" val="4044445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500" b="1" dirty="0"/>
              <a:t>Radiation Dose Distribution Around a Phantom at Varying Angles and Distances</a:t>
            </a:r>
          </a:p>
        </p:txBody>
      </p:sp>
      <p:pic>
        <p:nvPicPr>
          <p:cNvPr id="4" name="Content Placeholder 3"/>
          <p:cNvPicPr>
            <a:picLocks noGrp="1" noChangeAspect="1"/>
          </p:cNvPicPr>
          <p:nvPr>
            <p:ph idx="1"/>
          </p:nvPr>
        </p:nvPicPr>
        <p:blipFill>
          <a:blip r:embed="rId2"/>
          <a:stretch>
            <a:fillRect/>
          </a:stretch>
        </p:blipFill>
        <p:spPr>
          <a:xfrm>
            <a:off x="2730138" y="1853247"/>
            <a:ext cx="5438502" cy="4930759"/>
          </a:xfrm>
          <a:prstGeom prst="rect">
            <a:avLst/>
          </a:prstGeom>
        </p:spPr>
      </p:pic>
    </p:spTree>
    <p:extLst>
      <p:ext uri="{BB962C8B-B14F-4D97-AF65-F5344CB8AC3E}">
        <p14:creationId xmlns:p14="http://schemas.microsoft.com/office/powerpoint/2010/main" val="2723993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000" b="1" dirty="0"/>
              <a:t>Graphical Analysis</a:t>
            </a:r>
          </a:p>
        </p:txBody>
      </p:sp>
      <p:sp>
        <p:nvSpPr>
          <p:cNvPr id="5" name="Rectangle 4"/>
          <p:cNvSpPr/>
          <p:nvPr/>
        </p:nvSpPr>
        <p:spPr>
          <a:xfrm>
            <a:off x="6400800" y="4191000"/>
            <a:ext cx="4132198" cy="1754326"/>
          </a:xfrm>
          <a:prstGeom prst="rect">
            <a:avLst/>
          </a:prstGeom>
        </p:spPr>
        <p:txBody>
          <a:bodyPr wrap="square">
            <a:spAutoFit/>
          </a:bodyPr>
          <a:lstStyle/>
          <a:p>
            <a:pPr algn="ctr"/>
            <a:r>
              <a:rPr lang="en-US" b="1" i="0" dirty="0">
                <a:solidFill>
                  <a:srgbClr val="FFFFFF"/>
                </a:solidFill>
                <a:effectLst/>
              </a:rPr>
              <a:t>Angular Variation in Dose Rate</a:t>
            </a:r>
          </a:p>
          <a:p>
            <a:pPr algn="ctr"/>
            <a:r>
              <a:rPr lang="en-US" b="1" i="0" dirty="0">
                <a:solidFill>
                  <a:srgbClr val="FFFFFF"/>
                </a:solidFill>
                <a:effectLst/>
              </a:rPr>
              <a:t>(70 </a:t>
            </a:r>
            <a:r>
              <a:rPr lang="en-US" b="1" i="0" dirty="0" err="1">
                <a:solidFill>
                  <a:srgbClr val="FFFFFF"/>
                </a:solidFill>
                <a:effectLst/>
              </a:rPr>
              <a:t>kVp</a:t>
            </a:r>
            <a:r>
              <a:rPr lang="en-US" b="1" i="0" dirty="0">
                <a:solidFill>
                  <a:srgbClr val="FFFFFF"/>
                </a:solidFill>
                <a:effectLst/>
              </a:rPr>
              <a:t>, 4 mA)</a:t>
            </a:r>
          </a:p>
          <a:p>
            <a:r>
              <a:rPr lang="en-US" dirty="0"/>
              <a:t>Radiation dose varies with angle and distance, highlighting beam directionality and environmental influence.</a:t>
            </a:r>
          </a:p>
        </p:txBody>
      </p:sp>
      <p:sp>
        <p:nvSpPr>
          <p:cNvPr id="11" name="AutoShape 2">
            <a:extLst>
              <a:ext uri="{FF2B5EF4-FFF2-40B4-BE49-F238E27FC236}">
                <a16:creationId xmlns:a16="http://schemas.microsoft.com/office/drawing/2014/main" id="{10A908BE-C65A-861E-000B-B1DCD4D8576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4">
            <a:extLst>
              <a:ext uri="{FF2B5EF4-FFF2-40B4-BE49-F238E27FC236}">
                <a16:creationId xmlns:a16="http://schemas.microsoft.com/office/drawing/2014/main" id="{A8D7630B-359F-5559-9F0C-B88C27E46E7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6">
            <a:extLst>
              <a:ext uri="{FF2B5EF4-FFF2-40B4-BE49-F238E27FC236}">
                <a16:creationId xmlns:a16="http://schemas.microsoft.com/office/drawing/2014/main" id="{BA09BEA8-387B-E9F2-E703-5A0DB499F91D}"/>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8">
            <a:extLst>
              <a:ext uri="{FF2B5EF4-FFF2-40B4-BE49-F238E27FC236}">
                <a16:creationId xmlns:a16="http://schemas.microsoft.com/office/drawing/2014/main" id="{69E490BA-CF59-E6C4-688D-AB2014FEFE17}"/>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 name="Picture 16">
            <a:extLst>
              <a:ext uri="{FF2B5EF4-FFF2-40B4-BE49-F238E27FC236}">
                <a16:creationId xmlns:a16="http://schemas.microsoft.com/office/drawing/2014/main" id="{6C560613-750A-C57D-38B9-DE764A08C088}"/>
              </a:ext>
            </a:extLst>
          </p:cNvPr>
          <p:cNvPicPr>
            <a:picLocks noChangeAspect="1"/>
          </p:cNvPicPr>
          <p:nvPr/>
        </p:nvPicPr>
        <p:blipFill>
          <a:blip r:embed="rId2"/>
          <a:stretch>
            <a:fillRect/>
          </a:stretch>
        </p:blipFill>
        <p:spPr>
          <a:xfrm>
            <a:off x="6096000" y="1457325"/>
            <a:ext cx="4233973" cy="2581275"/>
          </a:xfrm>
          <a:prstGeom prst="rect">
            <a:avLst/>
          </a:prstGeom>
        </p:spPr>
      </p:pic>
      <p:pic>
        <p:nvPicPr>
          <p:cNvPr id="18" name="Picture 17">
            <a:extLst>
              <a:ext uri="{FF2B5EF4-FFF2-40B4-BE49-F238E27FC236}">
                <a16:creationId xmlns:a16="http://schemas.microsoft.com/office/drawing/2014/main" id="{04414269-6887-057B-A3D3-52064646E9BC}"/>
              </a:ext>
            </a:extLst>
          </p:cNvPr>
          <p:cNvPicPr>
            <a:picLocks noChangeAspect="1"/>
          </p:cNvPicPr>
          <p:nvPr/>
        </p:nvPicPr>
        <p:blipFill>
          <a:blip r:embed="rId3"/>
          <a:stretch>
            <a:fillRect/>
          </a:stretch>
        </p:blipFill>
        <p:spPr>
          <a:xfrm>
            <a:off x="1260952" y="1381498"/>
            <a:ext cx="3752574" cy="5314204"/>
          </a:xfrm>
          <a:prstGeom prst="rect">
            <a:avLst/>
          </a:prstGeom>
        </p:spPr>
      </p:pic>
    </p:spTree>
    <p:extLst>
      <p:ext uri="{BB962C8B-B14F-4D97-AF65-F5344CB8AC3E}">
        <p14:creationId xmlns:p14="http://schemas.microsoft.com/office/powerpoint/2010/main" val="4102772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0E0918-1EE4-6785-5464-E8DED779C81A}"/>
              </a:ext>
            </a:extLst>
          </p:cNvPr>
          <p:cNvSpPr txBox="1"/>
          <p:nvPr/>
        </p:nvSpPr>
        <p:spPr>
          <a:xfrm>
            <a:off x="5947123" y="4315744"/>
            <a:ext cx="6096000" cy="923330"/>
          </a:xfrm>
          <a:prstGeom prst="rect">
            <a:avLst/>
          </a:prstGeom>
          <a:noFill/>
        </p:spPr>
        <p:txBody>
          <a:bodyPr wrap="square">
            <a:spAutoFit/>
          </a:bodyPr>
          <a:lstStyle/>
          <a:p>
            <a:pPr algn="ctr"/>
            <a:r>
              <a:rPr lang="en-US" b="1" i="0" dirty="0">
                <a:solidFill>
                  <a:srgbClr val="FFFFFF"/>
                </a:solidFill>
                <a:effectLst/>
              </a:rPr>
              <a:t>Angular Variation in Dose Rate (60 </a:t>
            </a:r>
            <a:r>
              <a:rPr lang="en-US" b="1" i="0" dirty="0" err="1">
                <a:solidFill>
                  <a:srgbClr val="FFFFFF"/>
                </a:solidFill>
                <a:effectLst/>
              </a:rPr>
              <a:t>kVp</a:t>
            </a:r>
            <a:r>
              <a:rPr lang="en-US" b="1" i="0" dirty="0">
                <a:solidFill>
                  <a:srgbClr val="FFFFFF"/>
                </a:solidFill>
                <a:effectLst/>
              </a:rPr>
              <a:t>, 4 mA)</a:t>
            </a:r>
          </a:p>
          <a:p>
            <a:r>
              <a:rPr lang="en-US" dirty="0"/>
              <a:t>Radiation dose rate varies with angle and distance, showing directional effects and scattering influences.</a:t>
            </a:r>
          </a:p>
        </p:txBody>
      </p:sp>
      <p:sp>
        <p:nvSpPr>
          <p:cNvPr id="6" name="TextBox 5">
            <a:extLst>
              <a:ext uri="{FF2B5EF4-FFF2-40B4-BE49-F238E27FC236}">
                <a16:creationId xmlns:a16="http://schemas.microsoft.com/office/drawing/2014/main" id="{FC3D4D4B-FA46-4816-9DC9-5D8EB7BF29F4}"/>
              </a:ext>
            </a:extLst>
          </p:cNvPr>
          <p:cNvSpPr txBox="1"/>
          <p:nvPr/>
        </p:nvSpPr>
        <p:spPr>
          <a:xfrm>
            <a:off x="543340" y="366105"/>
            <a:ext cx="7566991" cy="861774"/>
          </a:xfrm>
          <a:prstGeom prst="rect">
            <a:avLst/>
          </a:prstGeom>
          <a:noFill/>
        </p:spPr>
        <p:txBody>
          <a:bodyPr wrap="square">
            <a:spAutoFit/>
          </a:bodyPr>
          <a:lstStyle/>
          <a:p>
            <a:r>
              <a:rPr lang="en-US" sz="5000" b="1" dirty="0">
                <a:solidFill>
                  <a:schemeClr val="tx2"/>
                </a:solidFill>
              </a:rPr>
              <a:t>Graphical</a:t>
            </a:r>
            <a:r>
              <a:rPr lang="en-US" sz="5000" b="1" dirty="0"/>
              <a:t> </a:t>
            </a:r>
            <a:r>
              <a:rPr lang="en-US" sz="5000" b="1" dirty="0">
                <a:solidFill>
                  <a:schemeClr val="tx2"/>
                </a:solidFill>
              </a:rPr>
              <a:t>Analysis</a:t>
            </a:r>
            <a:endParaRPr lang="en-US" sz="5000" dirty="0">
              <a:solidFill>
                <a:schemeClr val="tx2"/>
              </a:solidFill>
            </a:endParaRPr>
          </a:p>
        </p:txBody>
      </p:sp>
      <p:pic>
        <p:nvPicPr>
          <p:cNvPr id="9" name="Picture 8">
            <a:extLst>
              <a:ext uri="{FF2B5EF4-FFF2-40B4-BE49-F238E27FC236}">
                <a16:creationId xmlns:a16="http://schemas.microsoft.com/office/drawing/2014/main" id="{83765023-FCF3-4759-8C57-3EB24919BE60}"/>
              </a:ext>
            </a:extLst>
          </p:cNvPr>
          <p:cNvPicPr>
            <a:picLocks noChangeAspect="1"/>
          </p:cNvPicPr>
          <p:nvPr/>
        </p:nvPicPr>
        <p:blipFill>
          <a:blip r:embed="rId2"/>
          <a:stretch>
            <a:fillRect/>
          </a:stretch>
        </p:blipFill>
        <p:spPr>
          <a:xfrm>
            <a:off x="6289605" y="1404974"/>
            <a:ext cx="5019675" cy="2733675"/>
          </a:xfrm>
          <a:prstGeom prst="rect">
            <a:avLst/>
          </a:prstGeom>
        </p:spPr>
      </p:pic>
      <p:pic>
        <p:nvPicPr>
          <p:cNvPr id="10" name="Picture 9">
            <a:extLst>
              <a:ext uri="{FF2B5EF4-FFF2-40B4-BE49-F238E27FC236}">
                <a16:creationId xmlns:a16="http://schemas.microsoft.com/office/drawing/2014/main" id="{5983B6E1-A91F-6209-6420-59C3B9BD2685}"/>
              </a:ext>
            </a:extLst>
          </p:cNvPr>
          <p:cNvPicPr>
            <a:picLocks noChangeAspect="1"/>
          </p:cNvPicPr>
          <p:nvPr/>
        </p:nvPicPr>
        <p:blipFill>
          <a:blip r:embed="rId3"/>
          <a:stretch>
            <a:fillRect/>
          </a:stretch>
        </p:blipFill>
        <p:spPr>
          <a:xfrm>
            <a:off x="882720" y="1404974"/>
            <a:ext cx="4336360" cy="5349528"/>
          </a:xfrm>
          <a:prstGeom prst="rect">
            <a:avLst/>
          </a:prstGeom>
        </p:spPr>
      </p:pic>
    </p:spTree>
    <p:extLst>
      <p:ext uri="{BB962C8B-B14F-4D97-AF65-F5344CB8AC3E}">
        <p14:creationId xmlns:p14="http://schemas.microsoft.com/office/powerpoint/2010/main" val="2337310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000" b="1" dirty="0"/>
              <a:t>Graphical Analysis</a:t>
            </a:r>
          </a:p>
        </p:txBody>
      </p:sp>
      <p:sp>
        <p:nvSpPr>
          <p:cNvPr id="5" name="Rectangle 4"/>
          <p:cNvSpPr/>
          <p:nvPr/>
        </p:nvSpPr>
        <p:spPr>
          <a:xfrm>
            <a:off x="6744520" y="4563608"/>
            <a:ext cx="3871295" cy="1754326"/>
          </a:xfrm>
          <a:prstGeom prst="rect">
            <a:avLst/>
          </a:prstGeom>
        </p:spPr>
        <p:txBody>
          <a:bodyPr wrap="square">
            <a:spAutoFit/>
          </a:bodyPr>
          <a:lstStyle/>
          <a:p>
            <a:pPr algn="ctr"/>
            <a:r>
              <a:rPr lang="en-US" b="1" dirty="0"/>
              <a:t>Angular Variation in Dose Rate (60 </a:t>
            </a:r>
            <a:r>
              <a:rPr lang="en-US" b="1" dirty="0" err="1"/>
              <a:t>kVp</a:t>
            </a:r>
            <a:r>
              <a:rPr lang="en-US" b="1" dirty="0"/>
              <a:t>, 7 mA)</a:t>
            </a:r>
          </a:p>
          <a:p>
            <a:r>
              <a:rPr lang="en-US" dirty="0"/>
              <a:t>Radiation dose varies with angle and distance, reflecting beam directionality, attenuation, and scattering effects.</a:t>
            </a:r>
          </a:p>
        </p:txBody>
      </p:sp>
      <p:pic>
        <p:nvPicPr>
          <p:cNvPr id="6" name="Picture 5">
            <a:extLst>
              <a:ext uri="{FF2B5EF4-FFF2-40B4-BE49-F238E27FC236}">
                <a16:creationId xmlns:a16="http://schemas.microsoft.com/office/drawing/2014/main" id="{A565021A-CDDE-F8EC-D1E6-1432FFB39FD6}"/>
              </a:ext>
            </a:extLst>
          </p:cNvPr>
          <p:cNvPicPr>
            <a:picLocks noChangeAspect="1"/>
          </p:cNvPicPr>
          <p:nvPr/>
        </p:nvPicPr>
        <p:blipFill>
          <a:blip r:embed="rId2"/>
          <a:stretch>
            <a:fillRect/>
          </a:stretch>
        </p:blipFill>
        <p:spPr>
          <a:xfrm>
            <a:off x="6358140" y="1437032"/>
            <a:ext cx="4257675" cy="3019425"/>
          </a:xfrm>
          <a:prstGeom prst="rect">
            <a:avLst/>
          </a:prstGeom>
        </p:spPr>
      </p:pic>
      <p:pic>
        <p:nvPicPr>
          <p:cNvPr id="11" name="Picture 10">
            <a:extLst>
              <a:ext uri="{FF2B5EF4-FFF2-40B4-BE49-F238E27FC236}">
                <a16:creationId xmlns:a16="http://schemas.microsoft.com/office/drawing/2014/main" id="{8E565D1E-5432-A6AA-458F-8F6AF80C32BB}"/>
              </a:ext>
            </a:extLst>
          </p:cNvPr>
          <p:cNvPicPr>
            <a:picLocks noChangeAspect="1"/>
          </p:cNvPicPr>
          <p:nvPr/>
        </p:nvPicPr>
        <p:blipFill>
          <a:blip r:embed="rId3"/>
          <a:stretch>
            <a:fillRect/>
          </a:stretch>
        </p:blipFill>
        <p:spPr>
          <a:xfrm>
            <a:off x="860569" y="1437032"/>
            <a:ext cx="4257675" cy="5236147"/>
          </a:xfrm>
          <a:prstGeom prst="rect">
            <a:avLst/>
          </a:prstGeom>
        </p:spPr>
      </p:pic>
    </p:spTree>
    <p:extLst>
      <p:ext uri="{BB962C8B-B14F-4D97-AF65-F5344CB8AC3E}">
        <p14:creationId xmlns:p14="http://schemas.microsoft.com/office/powerpoint/2010/main" val="2940289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B91EB1-565A-BE4E-79BD-2842EB93B993}"/>
              </a:ext>
            </a:extLst>
          </p:cNvPr>
          <p:cNvSpPr txBox="1"/>
          <p:nvPr/>
        </p:nvSpPr>
        <p:spPr>
          <a:xfrm>
            <a:off x="5804452" y="4429036"/>
            <a:ext cx="6096000" cy="1200329"/>
          </a:xfrm>
          <a:prstGeom prst="rect">
            <a:avLst/>
          </a:prstGeom>
          <a:noFill/>
        </p:spPr>
        <p:txBody>
          <a:bodyPr wrap="square">
            <a:spAutoFit/>
          </a:bodyPr>
          <a:lstStyle/>
          <a:p>
            <a:pPr algn="ctr"/>
            <a:r>
              <a:rPr lang="en-US" b="1" dirty="0"/>
              <a:t>Angular Variation in Dose Rate (70 </a:t>
            </a:r>
            <a:r>
              <a:rPr lang="en-US" b="1" dirty="0" err="1"/>
              <a:t>kVp</a:t>
            </a:r>
            <a:r>
              <a:rPr lang="en-US" b="1" dirty="0"/>
              <a:t>, 7 mA)</a:t>
            </a:r>
            <a:r>
              <a:rPr lang="en-US" dirty="0"/>
              <a:t> </a:t>
            </a:r>
          </a:p>
          <a:p>
            <a:pPr algn="ctr"/>
            <a:r>
              <a:rPr lang="en-US" dirty="0"/>
              <a:t>Radiation dose varies with angle and distance, showing directional beam effects, attenuation, and environmental scattering.</a:t>
            </a:r>
            <a:endParaRPr lang="en-US" b="1" dirty="0"/>
          </a:p>
        </p:txBody>
      </p:sp>
      <p:sp>
        <p:nvSpPr>
          <p:cNvPr id="6" name="TextBox 5">
            <a:extLst>
              <a:ext uri="{FF2B5EF4-FFF2-40B4-BE49-F238E27FC236}">
                <a16:creationId xmlns:a16="http://schemas.microsoft.com/office/drawing/2014/main" id="{B07499D0-2630-0F97-49B1-044C31365B10}"/>
              </a:ext>
            </a:extLst>
          </p:cNvPr>
          <p:cNvSpPr txBox="1"/>
          <p:nvPr/>
        </p:nvSpPr>
        <p:spPr>
          <a:xfrm>
            <a:off x="357809" y="366861"/>
            <a:ext cx="6096000" cy="861774"/>
          </a:xfrm>
          <a:prstGeom prst="rect">
            <a:avLst/>
          </a:prstGeom>
          <a:noFill/>
        </p:spPr>
        <p:txBody>
          <a:bodyPr wrap="square">
            <a:spAutoFit/>
          </a:bodyPr>
          <a:lstStyle/>
          <a:p>
            <a:r>
              <a:rPr lang="en-US" sz="5000" b="1" dirty="0"/>
              <a:t>Graphical Analysis</a:t>
            </a:r>
            <a:endParaRPr lang="en-US" sz="5000" dirty="0"/>
          </a:p>
        </p:txBody>
      </p:sp>
      <p:pic>
        <p:nvPicPr>
          <p:cNvPr id="9" name="Picture 8">
            <a:extLst>
              <a:ext uri="{FF2B5EF4-FFF2-40B4-BE49-F238E27FC236}">
                <a16:creationId xmlns:a16="http://schemas.microsoft.com/office/drawing/2014/main" id="{F2504670-8196-9A16-BEE8-54108FC97983}"/>
              </a:ext>
            </a:extLst>
          </p:cNvPr>
          <p:cNvPicPr>
            <a:picLocks noChangeAspect="1"/>
          </p:cNvPicPr>
          <p:nvPr/>
        </p:nvPicPr>
        <p:blipFill>
          <a:blip r:embed="rId2"/>
          <a:stretch>
            <a:fillRect/>
          </a:stretch>
        </p:blipFill>
        <p:spPr>
          <a:xfrm>
            <a:off x="6310106" y="1357223"/>
            <a:ext cx="4210050" cy="2943225"/>
          </a:xfrm>
          <a:prstGeom prst="rect">
            <a:avLst/>
          </a:prstGeom>
        </p:spPr>
      </p:pic>
      <p:pic>
        <p:nvPicPr>
          <p:cNvPr id="10" name="Picture 9">
            <a:extLst>
              <a:ext uri="{FF2B5EF4-FFF2-40B4-BE49-F238E27FC236}">
                <a16:creationId xmlns:a16="http://schemas.microsoft.com/office/drawing/2014/main" id="{6740A5B7-037C-C184-CA23-9A65A0519A15}"/>
              </a:ext>
            </a:extLst>
          </p:cNvPr>
          <p:cNvPicPr>
            <a:picLocks noChangeAspect="1"/>
          </p:cNvPicPr>
          <p:nvPr/>
        </p:nvPicPr>
        <p:blipFill>
          <a:blip r:embed="rId3"/>
          <a:stretch>
            <a:fillRect/>
          </a:stretch>
        </p:blipFill>
        <p:spPr>
          <a:xfrm>
            <a:off x="1098894" y="1228635"/>
            <a:ext cx="3857419" cy="5589078"/>
          </a:xfrm>
          <a:prstGeom prst="rect">
            <a:avLst/>
          </a:prstGeom>
        </p:spPr>
      </p:pic>
    </p:spTree>
    <p:extLst>
      <p:ext uri="{BB962C8B-B14F-4D97-AF65-F5344CB8AC3E}">
        <p14:creationId xmlns:p14="http://schemas.microsoft.com/office/powerpoint/2010/main" val="895522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Volume, Limitations &amp; Graphical Overview</a:t>
            </a:r>
            <a:endParaRPr lang="en-US" dirty="0"/>
          </a:p>
        </p:txBody>
      </p:sp>
      <p:sp>
        <p:nvSpPr>
          <p:cNvPr id="3" name="Content Placeholder 2"/>
          <p:cNvSpPr>
            <a:spLocks noGrp="1"/>
          </p:cNvSpPr>
          <p:nvPr>
            <p:ph idx="1"/>
          </p:nvPr>
        </p:nvSpPr>
        <p:spPr>
          <a:xfrm>
            <a:off x="450169" y="2270632"/>
            <a:ext cx="8946541" cy="4195481"/>
          </a:xfrm>
        </p:spPr>
        <p:txBody>
          <a:bodyPr>
            <a:normAutofit fontScale="92500" lnSpcReduction="20000"/>
          </a:bodyPr>
          <a:lstStyle/>
          <a:p>
            <a:pPr marL="0" indent="0">
              <a:buNone/>
            </a:pPr>
            <a:r>
              <a:rPr lang="en-US" b="1" dirty="0"/>
              <a:t>Dataset Summary:</a:t>
            </a:r>
          </a:p>
          <a:p>
            <a:r>
              <a:rPr lang="en-US" dirty="0"/>
              <a:t>2 Exposure Settings: 70kVp/7mA and 60kVp/4mA</a:t>
            </a:r>
          </a:p>
          <a:p>
            <a:r>
              <a:rPr lang="en-US" dirty="0"/>
              <a:t>3 Distances: 8", 16", 24"</a:t>
            </a:r>
          </a:p>
          <a:p>
            <a:r>
              <a:rPr lang="en-US" dirty="0"/>
              <a:t>9 Angles: 0°–360° in 45° steps</a:t>
            </a:r>
          </a:p>
          <a:p>
            <a:r>
              <a:rPr lang="en-US" dirty="0"/>
              <a:t>60 combinations per setting → Comprehensive dataset</a:t>
            </a:r>
          </a:p>
          <a:p>
            <a:pPr marL="0" indent="0">
              <a:buNone/>
            </a:pPr>
            <a:r>
              <a:rPr lang="en-US" b="1" dirty="0"/>
              <a:t>Limitations:</a:t>
            </a:r>
          </a:p>
          <a:p>
            <a:r>
              <a:rPr lang="en-US" dirty="0"/>
              <a:t>Linearity Assumption: May fail if relationship isn’t linear</a:t>
            </a:r>
          </a:p>
          <a:p>
            <a:r>
              <a:rPr lang="en-US" dirty="0"/>
              <a:t>Outliers: Can distort slope/intercept significantly</a:t>
            </a:r>
          </a:p>
          <a:p>
            <a:pPr marL="0" indent="0">
              <a:buNone/>
            </a:pPr>
            <a:r>
              <a:rPr lang="en-US" b="1" dirty="0"/>
              <a:t>Graphical Analysis:</a:t>
            </a:r>
          </a:p>
          <a:p>
            <a:r>
              <a:rPr lang="en-US" dirty="0"/>
              <a:t>Initial step before regression</a:t>
            </a:r>
          </a:p>
          <a:p>
            <a:r>
              <a:rPr lang="en-US" dirty="0"/>
              <a:t>Helped identify trends, validate physical principles, and detect anomalies</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4918" y="2815331"/>
            <a:ext cx="2303573" cy="3831154"/>
          </a:xfrm>
          <a:prstGeom prst="rect">
            <a:avLst/>
          </a:prstGeom>
        </p:spPr>
      </p:pic>
    </p:spTree>
    <p:extLst>
      <p:ext uri="{BB962C8B-B14F-4D97-AF65-F5344CB8AC3E}">
        <p14:creationId xmlns:p14="http://schemas.microsoft.com/office/powerpoint/2010/main" val="1015513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Interaction of Distance and Angle</a:t>
            </a:r>
          </a:p>
        </p:txBody>
      </p:sp>
      <p:pic>
        <p:nvPicPr>
          <p:cNvPr id="4" name="Content Placeholder 3"/>
          <p:cNvPicPr>
            <a:picLocks noGrp="1" noChangeAspect="1"/>
          </p:cNvPicPr>
          <p:nvPr>
            <p:ph idx="1"/>
          </p:nvPr>
        </p:nvPicPr>
        <p:blipFill>
          <a:blip r:embed="rId2"/>
          <a:stretch>
            <a:fillRect/>
          </a:stretch>
        </p:blipFill>
        <p:spPr>
          <a:xfrm>
            <a:off x="720079" y="1720227"/>
            <a:ext cx="6021062" cy="2259589"/>
          </a:xfrm>
          <a:prstGeom prst="rect">
            <a:avLst/>
          </a:prstGeom>
        </p:spPr>
      </p:pic>
      <p:pic>
        <p:nvPicPr>
          <p:cNvPr id="5" name="Picture 4"/>
          <p:cNvPicPr>
            <a:picLocks noChangeAspect="1"/>
          </p:cNvPicPr>
          <p:nvPr/>
        </p:nvPicPr>
        <p:blipFill>
          <a:blip r:embed="rId3"/>
          <a:stretch>
            <a:fillRect/>
          </a:stretch>
        </p:blipFill>
        <p:spPr>
          <a:xfrm>
            <a:off x="6174378" y="4013920"/>
            <a:ext cx="5401261" cy="2466809"/>
          </a:xfrm>
          <a:prstGeom prst="rect">
            <a:avLst/>
          </a:prstGeom>
        </p:spPr>
      </p:pic>
    </p:spTree>
    <p:extLst>
      <p:ext uri="{BB962C8B-B14F-4D97-AF65-F5344CB8AC3E}">
        <p14:creationId xmlns:p14="http://schemas.microsoft.com/office/powerpoint/2010/main" val="2816096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Comparison of Exposure Settings (70 </a:t>
            </a:r>
            <a:r>
              <a:rPr lang="en-US" b="1" dirty="0" err="1"/>
              <a:t>kVp</a:t>
            </a:r>
            <a:r>
              <a:rPr lang="en-US" b="1" dirty="0"/>
              <a:t>/7 mA vs. 60 </a:t>
            </a:r>
            <a:r>
              <a:rPr lang="en-US" b="1" dirty="0" err="1"/>
              <a:t>kVp</a:t>
            </a:r>
            <a:r>
              <a:rPr lang="en-US" b="1" dirty="0"/>
              <a:t>/4 mA)</a:t>
            </a:r>
          </a:p>
        </p:txBody>
      </p:sp>
      <p:sp>
        <p:nvSpPr>
          <p:cNvPr id="3" name="Content Placeholder 2"/>
          <p:cNvSpPr>
            <a:spLocks noGrp="1"/>
          </p:cNvSpPr>
          <p:nvPr>
            <p:ph idx="1"/>
          </p:nvPr>
        </p:nvSpPr>
        <p:spPr/>
        <p:txBody>
          <a:bodyPr/>
          <a:lstStyle/>
          <a:p>
            <a:r>
              <a:rPr lang="en-US" dirty="0"/>
              <a:t>Higher </a:t>
            </a:r>
            <a:r>
              <a:rPr lang="en-US" dirty="0" err="1"/>
              <a:t>kVp</a:t>
            </a:r>
            <a:r>
              <a:rPr lang="en-US" dirty="0"/>
              <a:t>/mA (70/7) produced 20–50% higher dose rates than lower setting (60/4).</a:t>
            </a:r>
          </a:p>
          <a:p>
            <a:r>
              <a:rPr lang="en-US" dirty="0"/>
              <a:t>The overall shape of dose vs. distance and angle curves remained consistent.</a:t>
            </a:r>
          </a:p>
          <a:p>
            <a:r>
              <a:rPr lang="en-US" dirty="0"/>
              <a:t>Indicates geometric radiation behavior is unchanged with different exposure levels.</a:t>
            </a:r>
          </a:p>
          <a:p>
            <a:r>
              <a:rPr lang="en-US" dirty="0"/>
              <a:t>Suggests models built on one setting may generalize if geometry stays the same.</a:t>
            </a:r>
          </a:p>
        </p:txBody>
      </p:sp>
    </p:spTree>
    <p:extLst>
      <p:ext uri="{BB962C8B-B14F-4D97-AF65-F5344CB8AC3E}">
        <p14:creationId xmlns:p14="http://schemas.microsoft.com/office/powerpoint/2010/main" val="805854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Analysis – Linear Regression</a:t>
            </a:r>
          </a:p>
        </p:txBody>
      </p:sp>
      <p:pic>
        <p:nvPicPr>
          <p:cNvPr id="4" name="Content Placeholder 3"/>
          <p:cNvPicPr>
            <a:picLocks noGrp="1" noChangeAspect="1"/>
          </p:cNvPicPr>
          <p:nvPr>
            <p:ph idx="1"/>
          </p:nvPr>
        </p:nvPicPr>
        <p:blipFill>
          <a:blip r:embed="rId2"/>
          <a:stretch>
            <a:fillRect/>
          </a:stretch>
        </p:blipFill>
        <p:spPr>
          <a:xfrm>
            <a:off x="416297" y="1774871"/>
            <a:ext cx="11462194" cy="4160352"/>
          </a:xfrm>
          <a:prstGeom prst="rect">
            <a:avLst/>
          </a:prstGeom>
        </p:spPr>
      </p:pic>
    </p:spTree>
    <p:extLst>
      <p:ext uri="{BB962C8B-B14F-4D97-AF65-F5344CB8AC3E}">
        <p14:creationId xmlns:p14="http://schemas.microsoft.com/office/powerpoint/2010/main" val="1299777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b="1" dirty="0"/>
              <a:t>Analysis</a:t>
            </a:r>
          </a:p>
        </p:txBody>
      </p:sp>
      <p:sp>
        <p:nvSpPr>
          <p:cNvPr id="3" name="Content Placeholder 2"/>
          <p:cNvSpPr>
            <a:spLocks noGrp="1"/>
          </p:cNvSpPr>
          <p:nvPr>
            <p:ph idx="1"/>
          </p:nvPr>
        </p:nvSpPr>
        <p:spPr>
          <a:xfrm>
            <a:off x="380500" y="2009375"/>
            <a:ext cx="8946541" cy="4195481"/>
          </a:xfrm>
        </p:spPr>
        <p:txBody>
          <a:bodyPr>
            <a:normAutofit fontScale="85000" lnSpcReduction="20000"/>
          </a:bodyPr>
          <a:lstStyle/>
          <a:p>
            <a:pPr marL="0" indent="0">
              <a:buNone/>
            </a:pPr>
            <a:r>
              <a:rPr lang="en-US" b="1" dirty="0"/>
              <a:t>Definition:</a:t>
            </a:r>
            <a:endParaRPr lang="en-US" dirty="0"/>
          </a:p>
          <a:p>
            <a:r>
              <a:rPr lang="en-US" dirty="0"/>
              <a:t>The best-fit line is a straight line that most accurately represents the relationship between input (X) and output (Y), minimizing the error between actual and predicted values.</a:t>
            </a:r>
          </a:p>
          <a:p>
            <a:pPr marL="0" indent="0">
              <a:buNone/>
            </a:pPr>
            <a:r>
              <a:rPr lang="en-US" b="1" dirty="0"/>
              <a:t>Goal:</a:t>
            </a:r>
            <a:endParaRPr lang="en-US" dirty="0"/>
          </a:p>
          <a:p>
            <a:r>
              <a:rPr lang="en-US" dirty="0"/>
              <a:t>To reduce prediction errors by minimizing the difference between observed and predicted values.</a:t>
            </a:r>
          </a:p>
          <a:p>
            <a:pPr marL="0" indent="0">
              <a:buNone/>
            </a:pPr>
            <a:r>
              <a:rPr lang="en-US" b="1" dirty="0"/>
              <a:t>Equation:</a:t>
            </a:r>
            <a:endParaRPr lang="en-US" dirty="0"/>
          </a:p>
          <a:p>
            <a:r>
              <a:rPr lang="en-US" dirty="0"/>
              <a:t>y = mx + b</a:t>
            </a:r>
          </a:p>
          <a:p>
            <a:r>
              <a:rPr lang="en-US" dirty="0"/>
              <a:t>y: Predicted value (dependent variable)</a:t>
            </a:r>
          </a:p>
          <a:p>
            <a:r>
              <a:rPr lang="en-US" dirty="0"/>
              <a:t>x: Input (independent variable)</a:t>
            </a:r>
          </a:p>
          <a:p>
            <a:r>
              <a:rPr lang="en-US" dirty="0"/>
              <a:t>m: Slope (rate of change of y with respect to x)</a:t>
            </a:r>
          </a:p>
          <a:p>
            <a:r>
              <a:rPr lang="en-US" dirty="0"/>
              <a:t>b: Intercept (value of y when x = 0)</a:t>
            </a:r>
          </a:p>
          <a:p>
            <a:endParaRPr lang="en-US" dirty="0"/>
          </a:p>
        </p:txBody>
      </p:sp>
      <p:sp>
        <p:nvSpPr>
          <p:cNvPr id="5"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p:cNvPicPr>
            <a:picLocks noChangeAspect="1"/>
          </p:cNvPicPr>
          <p:nvPr/>
        </p:nvPicPr>
        <p:blipFill>
          <a:blip r:embed="rId2"/>
          <a:stretch>
            <a:fillRect/>
          </a:stretch>
        </p:blipFill>
        <p:spPr>
          <a:xfrm>
            <a:off x="6871064" y="3726372"/>
            <a:ext cx="5216434" cy="3070667"/>
          </a:xfrm>
          <a:prstGeom prst="rect">
            <a:avLst/>
          </a:prstGeom>
        </p:spPr>
      </p:pic>
    </p:spTree>
    <p:extLst>
      <p:ext uri="{BB962C8B-B14F-4D97-AF65-F5344CB8AC3E}">
        <p14:creationId xmlns:p14="http://schemas.microsoft.com/office/powerpoint/2010/main" val="4215426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b="1" dirty="0"/>
              <a:t>Analysis</a:t>
            </a:r>
          </a:p>
        </p:txBody>
      </p:sp>
      <p:sp>
        <p:nvSpPr>
          <p:cNvPr id="3" name="Content Placeholder 2"/>
          <p:cNvSpPr>
            <a:spLocks noGrp="1"/>
          </p:cNvSpPr>
          <p:nvPr>
            <p:ph idx="1"/>
          </p:nvPr>
        </p:nvSpPr>
        <p:spPr>
          <a:xfrm>
            <a:off x="380500" y="2009375"/>
            <a:ext cx="8946541" cy="4195481"/>
          </a:xfrm>
        </p:spPr>
        <p:txBody>
          <a:bodyPr>
            <a:normAutofit fontScale="77500" lnSpcReduction="20000"/>
          </a:bodyPr>
          <a:lstStyle/>
          <a:p>
            <a:pPr marL="0" indent="0">
              <a:buNone/>
            </a:pPr>
            <a:r>
              <a:rPr lang="en-US" b="1" dirty="0"/>
              <a:t>Least Squares Method:</a:t>
            </a:r>
            <a:endParaRPr lang="en-US" dirty="0"/>
          </a:p>
          <a:p>
            <a:r>
              <a:rPr lang="en-US" dirty="0"/>
              <a:t>Used to determine the best-fit line by minimizing the sum of squared errors (SSE):</a:t>
            </a:r>
          </a:p>
          <a:p>
            <a:r>
              <a:rPr lang="en-US" dirty="0"/>
              <a:t>SSE = Σ(</a:t>
            </a:r>
            <a:r>
              <a:rPr lang="en-US" dirty="0" err="1"/>
              <a:t>yi</a:t>
            </a:r>
            <a:r>
              <a:rPr lang="en-US" dirty="0"/>
              <a:t> – </a:t>
            </a:r>
            <a:r>
              <a:rPr lang="en-US" dirty="0" err="1"/>
              <a:t>ŷi</a:t>
            </a:r>
            <a:r>
              <a:rPr lang="en-US" dirty="0"/>
              <a:t>)²</a:t>
            </a:r>
          </a:p>
          <a:p>
            <a:r>
              <a:rPr lang="en-US" dirty="0" err="1"/>
              <a:t>yi</a:t>
            </a:r>
            <a:r>
              <a:rPr lang="en-US" dirty="0"/>
              <a:t>: Actual value</a:t>
            </a:r>
          </a:p>
          <a:p>
            <a:r>
              <a:rPr lang="en-US" dirty="0" err="1"/>
              <a:t>ŷi</a:t>
            </a:r>
            <a:r>
              <a:rPr lang="en-US" dirty="0"/>
              <a:t>: Predicted value</a:t>
            </a:r>
          </a:p>
          <a:p>
            <a:r>
              <a:rPr lang="en-US" dirty="0"/>
              <a:t>Residual = </a:t>
            </a:r>
            <a:r>
              <a:rPr lang="en-US" dirty="0" err="1"/>
              <a:t>yi</a:t>
            </a:r>
            <a:r>
              <a:rPr lang="en-US" dirty="0"/>
              <a:t> – </a:t>
            </a:r>
            <a:r>
              <a:rPr lang="en-US" dirty="0" err="1"/>
              <a:t>ŷi</a:t>
            </a:r>
            <a:endParaRPr lang="en-US" dirty="0"/>
          </a:p>
          <a:p>
            <a:pPr marL="0" indent="0">
              <a:buNone/>
            </a:pPr>
            <a:r>
              <a:rPr lang="en-US" b="1" dirty="0"/>
              <a:t>Interpretation:</a:t>
            </a:r>
            <a:endParaRPr lang="en-US" dirty="0"/>
          </a:p>
          <a:p>
            <a:r>
              <a:rPr lang="en-US" dirty="0"/>
              <a:t>Slope (m): Change in y for each unit increase in x</a:t>
            </a:r>
          </a:p>
          <a:p>
            <a:r>
              <a:rPr lang="en-US" dirty="0"/>
              <a:t>Intercept (b): Predicted y when x = 0</a:t>
            </a:r>
          </a:p>
          <a:p>
            <a:pPr marL="0" indent="0">
              <a:buNone/>
            </a:pPr>
            <a:r>
              <a:rPr lang="en-US" b="1" dirty="0"/>
              <a:t>Assumption:</a:t>
            </a:r>
            <a:endParaRPr lang="en-US" dirty="0"/>
          </a:p>
          <a:p>
            <a:r>
              <a:rPr lang="en-US" dirty="0"/>
              <a:t>Linear regression assumes a linear relationship and other </a:t>
            </a:r>
          </a:p>
          <a:p>
            <a:r>
              <a:rPr lang="en-US" dirty="0"/>
              <a:t>conditions (e.g., normality, independence) to ensure model </a:t>
            </a:r>
          </a:p>
          <a:p>
            <a:r>
              <a:rPr lang="en-US" dirty="0"/>
              <a:t>reliability.</a:t>
            </a:r>
          </a:p>
        </p:txBody>
      </p:sp>
      <p:sp>
        <p:nvSpPr>
          <p:cNvPr id="5"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p:cNvPicPr>
            <a:picLocks noChangeAspect="1"/>
          </p:cNvPicPr>
          <p:nvPr/>
        </p:nvPicPr>
        <p:blipFill>
          <a:blip r:embed="rId2"/>
          <a:stretch>
            <a:fillRect/>
          </a:stretch>
        </p:blipFill>
        <p:spPr>
          <a:xfrm>
            <a:off x="6871064" y="3726372"/>
            <a:ext cx="5216434" cy="3070667"/>
          </a:xfrm>
          <a:prstGeom prst="rect">
            <a:avLst/>
          </a:prstGeom>
        </p:spPr>
      </p:pic>
    </p:spTree>
    <p:extLst>
      <p:ext uri="{BB962C8B-B14F-4D97-AF65-F5344CB8AC3E}">
        <p14:creationId xmlns:p14="http://schemas.microsoft.com/office/powerpoint/2010/main" val="303443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000" b="1" dirty="0"/>
              <a:t>Linear Regression Model Setup</a:t>
            </a:r>
          </a:p>
        </p:txBody>
      </p:sp>
      <p:sp>
        <p:nvSpPr>
          <p:cNvPr id="3" name="Content Placeholder 2"/>
          <p:cNvSpPr>
            <a:spLocks noGrp="1"/>
          </p:cNvSpPr>
          <p:nvPr>
            <p:ph idx="1"/>
          </p:nvPr>
        </p:nvSpPr>
        <p:spPr>
          <a:xfrm>
            <a:off x="646111" y="2227090"/>
            <a:ext cx="8946541" cy="4195481"/>
          </a:xfrm>
        </p:spPr>
        <p:txBody>
          <a:bodyPr/>
          <a:lstStyle/>
          <a:p>
            <a:pPr marL="0" indent="0">
              <a:buNone/>
            </a:pPr>
            <a:r>
              <a:rPr lang="en-US" sz="3000" dirty="0"/>
              <a:t>Objective: Quantify how </a:t>
            </a:r>
            <a:r>
              <a:rPr lang="en-US" sz="3000" dirty="0" err="1"/>
              <a:t>kVp</a:t>
            </a:r>
            <a:r>
              <a:rPr lang="en-US" sz="3000" dirty="0"/>
              <a:t>, mA, distance, and angle affect dose rate</a:t>
            </a:r>
          </a:p>
          <a:p>
            <a:r>
              <a:rPr lang="en-US" sz="3000" dirty="0">
                <a:hlinkClick r:id="rId2"/>
              </a:rPr>
              <a:t>Dose Rate = β₀ (constant) + β₁(kVp) + β₂(mA) + β₃(Distance) + β₄(Angle)</a:t>
            </a:r>
            <a:endParaRPr lang="en-US" sz="3000" dirty="0"/>
          </a:p>
          <a:p>
            <a:r>
              <a:rPr lang="en-US" sz="3000" dirty="0">
                <a:hlinkClick r:id="rId2"/>
              </a:rPr>
              <a:t>All variables were numerical; 60 cleaned observations used.</a:t>
            </a:r>
            <a:endParaRPr lang="en-US" sz="3000" dirty="0"/>
          </a:p>
          <a:p>
            <a:r>
              <a:rPr lang="en-US" sz="3000" dirty="0">
                <a:hlinkClick r:id="rId2"/>
              </a:rPr>
              <a:t>Residuals and R² used to assess model fit and predictive accuracy.</a:t>
            </a:r>
            <a:endParaRPr lang="en-US" sz="3000" dirty="0"/>
          </a:p>
          <a:p>
            <a:endParaRPr lang="en-US" dirty="0"/>
          </a:p>
        </p:txBody>
      </p:sp>
    </p:spTree>
    <p:extLst>
      <p:ext uri="{BB962C8B-B14F-4D97-AF65-F5344CB8AC3E}">
        <p14:creationId xmlns:p14="http://schemas.microsoft.com/office/powerpoint/2010/main" val="3245213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000" b="1" dirty="0"/>
              <a:t>Linear Regression Output and Model Fit</a:t>
            </a:r>
          </a:p>
        </p:txBody>
      </p:sp>
      <p:sp>
        <p:nvSpPr>
          <p:cNvPr id="3" name="Content Placeholder 2"/>
          <p:cNvSpPr>
            <a:spLocks noGrp="1"/>
          </p:cNvSpPr>
          <p:nvPr>
            <p:ph idx="1"/>
          </p:nvPr>
        </p:nvSpPr>
        <p:spPr>
          <a:xfrm>
            <a:off x="371792" y="2418678"/>
            <a:ext cx="8946541" cy="4195481"/>
          </a:xfrm>
        </p:spPr>
        <p:txBody>
          <a:bodyPr>
            <a:normAutofit/>
          </a:bodyPr>
          <a:lstStyle/>
          <a:p>
            <a:pPr lvl="1"/>
            <a:r>
              <a:rPr lang="en-US" sz="2800" dirty="0"/>
              <a:t>R² = 0.735 → model explains 73.5% of dose rate variation.</a:t>
            </a:r>
          </a:p>
          <a:p>
            <a:pPr lvl="1"/>
            <a:r>
              <a:rPr lang="en-US" sz="2800" dirty="0"/>
              <a:t>Adjusted R² = 0.713; F-statistic = 30.20; p &lt;</a:t>
            </a:r>
            <a:r>
              <a:rPr lang="en-US" b="1" dirty="0"/>
              <a:t> </a:t>
            </a:r>
            <a:r>
              <a:rPr lang="en-US" dirty="0"/>
              <a:t>0.00000000001</a:t>
            </a:r>
            <a:r>
              <a:rPr lang="en-US" sz="2800" dirty="0"/>
              <a:t>.</a:t>
            </a:r>
          </a:p>
          <a:p>
            <a:pPr lvl="1"/>
            <a:r>
              <a:rPr lang="en-US" sz="2800" dirty="0"/>
              <a:t>Root Mean Square Error = </a:t>
            </a:r>
            <a:r>
              <a:rPr lang="en-US" b="1" dirty="0"/>
              <a:t>11.76 </a:t>
            </a:r>
            <a:r>
              <a:rPr lang="en-US" sz="2800" dirty="0"/>
              <a:t> µ</a:t>
            </a:r>
            <a:r>
              <a:rPr lang="en-US" sz="2800" dirty="0" err="1"/>
              <a:t>Sv</a:t>
            </a:r>
            <a:r>
              <a:rPr lang="en-US" sz="2800" dirty="0"/>
              <a:t>/s.</a:t>
            </a:r>
          </a:p>
          <a:p>
            <a:pPr lvl="1"/>
            <a:r>
              <a:rPr lang="en-US" sz="2800" dirty="0"/>
              <a:t>Model is statistically significant and reasonably predictive.</a:t>
            </a:r>
          </a:p>
        </p:txBody>
      </p:sp>
    </p:spTree>
    <p:extLst>
      <p:ext uri="{BB962C8B-B14F-4D97-AF65-F5344CB8AC3E}">
        <p14:creationId xmlns:p14="http://schemas.microsoft.com/office/powerpoint/2010/main" val="327509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Coefficients and Statistical Significance</a:t>
            </a:r>
          </a:p>
        </p:txBody>
      </p:sp>
      <p:pic>
        <p:nvPicPr>
          <p:cNvPr id="9" name="Content Placeholder 8">
            <a:extLst>
              <a:ext uri="{FF2B5EF4-FFF2-40B4-BE49-F238E27FC236}">
                <a16:creationId xmlns:a16="http://schemas.microsoft.com/office/drawing/2014/main" id="{99BA58A8-F10C-ADAD-B63B-82D524D875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4241" y="2164080"/>
            <a:ext cx="9929634" cy="3752076"/>
          </a:xfrm>
        </p:spPr>
      </p:pic>
    </p:spTree>
    <p:extLst>
      <p:ext uri="{BB962C8B-B14F-4D97-AF65-F5344CB8AC3E}">
        <p14:creationId xmlns:p14="http://schemas.microsoft.com/office/powerpoint/2010/main" val="3011922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Rationale for Testing Quadratic Regression</a:t>
            </a:r>
          </a:p>
        </p:txBody>
      </p:sp>
      <p:pic>
        <p:nvPicPr>
          <p:cNvPr id="4" name="Content Placeholder 3"/>
          <p:cNvPicPr>
            <a:picLocks noGrp="1" noChangeAspect="1"/>
          </p:cNvPicPr>
          <p:nvPr>
            <p:ph idx="1"/>
          </p:nvPr>
        </p:nvPicPr>
        <p:blipFill>
          <a:blip r:embed="rId2"/>
          <a:stretch>
            <a:fillRect/>
          </a:stretch>
        </p:blipFill>
        <p:spPr>
          <a:xfrm>
            <a:off x="1348463" y="2634244"/>
            <a:ext cx="9495073" cy="3138088"/>
          </a:xfrm>
          <a:prstGeom prst="rect">
            <a:avLst/>
          </a:prstGeom>
        </p:spPr>
      </p:pic>
    </p:spTree>
    <p:extLst>
      <p:ext uri="{BB962C8B-B14F-4D97-AF65-F5344CB8AC3E}">
        <p14:creationId xmlns:p14="http://schemas.microsoft.com/office/powerpoint/2010/main" val="1832093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000" b="1" dirty="0"/>
              <a:t>Quadratic Model Results and Failure Indicators</a:t>
            </a:r>
          </a:p>
        </p:txBody>
      </p:sp>
      <p:sp>
        <p:nvSpPr>
          <p:cNvPr id="3" name="Content Placeholder 2"/>
          <p:cNvSpPr>
            <a:spLocks noGrp="1"/>
          </p:cNvSpPr>
          <p:nvPr>
            <p:ph idx="1"/>
          </p:nvPr>
        </p:nvSpPr>
        <p:spPr>
          <a:xfrm>
            <a:off x="646111" y="2349010"/>
            <a:ext cx="8946541" cy="4195481"/>
          </a:xfrm>
        </p:spPr>
        <p:txBody>
          <a:bodyPr>
            <a:normAutofit/>
          </a:bodyPr>
          <a:lstStyle/>
          <a:p>
            <a:r>
              <a:rPr lang="en-US" sz="3000" dirty="0"/>
              <a:t>R² = –0.174, Adjusted R² = –0.408 → worse than no model.</a:t>
            </a:r>
          </a:p>
          <a:p>
            <a:r>
              <a:rPr lang="en-US" sz="3000" dirty="0"/>
              <a:t>F-statistic not significant; p &gt; 0.05.</a:t>
            </a:r>
          </a:p>
          <a:p>
            <a:r>
              <a:rPr lang="en-US" sz="3000" dirty="0"/>
              <a:t>RMSE too high to interpret; model </a:t>
            </a:r>
            <a:r>
              <a:rPr lang="en-US" sz="3000" dirty="0" err="1"/>
              <a:t>overfit</a:t>
            </a:r>
            <a:r>
              <a:rPr lang="en-US" sz="3000" dirty="0"/>
              <a:t> and unreliable.</a:t>
            </a:r>
          </a:p>
          <a:p>
            <a:r>
              <a:rPr lang="en-US" sz="3000" dirty="0"/>
              <a:t>Model was statistically invalid—worse than mean prediction.</a:t>
            </a:r>
          </a:p>
        </p:txBody>
      </p:sp>
    </p:spTree>
    <p:extLst>
      <p:ext uri="{BB962C8B-B14F-4D97-AF65-F5344CB8AC3E}">
        <p14:creationId xmlns:p14="http://schemas.microsoft.com/office/powerpoint/2010/main" val="3762095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000" b="1" dirty="0"/>
              <a:t>Causes of Quadratic Model Failure</a:t>
            </a:r>
          </a:p>
        </p:txBody>
      </p:sp>
      <p:sp>
        <p:nvSpPr>
          <p:cNvPr id="3" name="Content Placeholder 2"/>
          <p:cNvSpPr>
            <a:spLocks noGrp="1"/>
          </p:cNvSpPr>
          <p:nvPr>
            <p:ph idx="1"/>
          </p:nvPr>
        </p:nvSpPr>
        <p:spPr>
          <a:xfrm>
            <a:off x="781095" y="2296758"/>
            <a:ext cx="8946541" cy="4195481"/>
          </a:xfrm>
        </p:spPr>
        <p:txBody>
          <a:bodyPr>
            <a:noAutofit/>
          </a:bodyPr>
          <a:lstStyle/>
          <a:p>
            <a:r>
              <a:rPr lang="en-US" sz="2500" dirty="0"/>
              <a:t>Too many predictors (squared terms) for only 60 observations.</a:t>
            </a:r>
          </a:p>
          <a:p>
            <a:r>
              <a:rPr lang="en-US" sz="2500" dirty="0"/>
              <a:t>Overfitting: model learned noise, not patterns.</a:t>
            </a:r>
          </a:p>
          <a:p>
            <a:r>
              <a:rPr lang="en-US" sz="2500" dirty="0" err="1"/>
              <a:t>Multicollinearity</a:t>
            </a:r>
            <a:r>
              <a:rPr lang="en-US" sz="2500" dirty="0"/>
              <a:t>: linear and squared variables were highly correlated.</a:t>
            </a:r>
          </a:p>
          <a:p>
            <a:r>
              <a:rPr lang="en-US" sz="2500" dirty="0"/>
              <a:t>Unstable coefficients: angles and distances dominated error.</a:t>
            </a:r>
          </a:p>
          <a:p>
            <a:r>
              <a:rPr lang="en-US" sz="2500" dirty="0"/>
              <a:t>Measurement noise near background levels also impacted reliability.</a:t>
            </a:r>
          </a:p>
        </p:txBody>
      </p:sp>
    </p:spTree>
    <p:extLst>
      <p:ext uri="{BB962C8B-B14F-4D97-AF65-F5344CB8AC3E}">
        <p14:creationId xmlns:p14="http://schemas.microsoft.com/office/powerpoint/2010/main" val="899351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Final Evaluation: Linear vs. Quadratic Model</a:t>
            </a:r>
          </a:p>
        </p:txBody>
      </p:sp>
      <p:pic>
        <p:nvPicPr>
          <p:cNvPr id="4" name="Content Placeholder 3"/>
          <p:cNvPicPr>
            <a:picLocks noGrp="1" noChangeAspect="1"/>
          </p:cNvPicPr>
          <p:nvPr>
            <p:ph idx="1"/>
          </p:nvPr>
        </p:nvPicPr>
        <p:blipFill>
          <a:blip r:embed="rId2"/>
          <a:stretch>
            <a:fillRect/>
          </a:stretch>
        </p:blipFill>
        <p:spPr>
          <a:xfrm>
            <a:off x="908576" y="2330312"/>
            <a:ext cx="10143057" cy="3696020"/>
          </a:xfrm>
          <a:prstGeom prst="rect">
            <a:avLst/>
          </a:prstGeom>
        </p:spPr>
      </p:pic>
    </p:spTree>
    <p:extLst>
      <p:ext uri="{BB962C8B-B14F-4D97-AF65-F5344CB8AC3E}">
        <p14:creationId xmlns:p14="http://schemas.microsoft.com/office/powerpoint/2010/main" val="3663188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 Comparison and Linear Model Strengths</a:t>
            </a:r>
          </a:p>
        </p:txBody>
      </p:sp>
      <p:sp>
        <p:nvSpPr>
          <p:cNvPr id="4" name="Rectangle 1"/>
          <p:cNvSpPr>
            <a:spLocks noGrp="1" noChangeArrowheads="1"/>
          </p:cNvSpPr>
          <p:nvPr>
            <p:ph idx="1"/>
          </p:nvPr>
        </p:nvSpPr>
        <p:spPr bwMode="auto">
          <a:xfrm>
            <a:off x="430961" y="1922521"/>
            <a:ext cx="1117833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chemeClr val="tx1"/>
                </a:solidFill>
                <a:effectLst/>
                <a:latin typeface="Arial" panose="020B0604020202020204" pitchFamily="34" charset="0"/>
              </a:rPr>
              <a:t>Linear regression</a:t>
            </a:r>
            <a:r>
              <a:rPr kumimoji="0" lang="en-US" altLang="en-US" sz="2500" b="0" i="0" u="none" strike="noStrike" cap="none" normalizeH="0" baseline="0" dirty="0">
                <a:ln>
                  <a:noFill/>
                </a:ln>
                <a:solidFill>
                  <a:schemeClr val="tx1"/>
                </a:solidFill>
                <a:effectLst/>
                <a:latin typeface="Arial" panose="020B0604020202020204" pitchFamily="34" charset="0"/>
              </a:rPr>
              <a:t> explained </a:t>
            </a:r>
            <a:r>
              <a:rPr lang="en-US" altLang="en-US" sz="2500" dirty="0">
                <a:latin typeface="Arial" panose="020B0604020202020204" pitchFamily="34" charset="0"/>
              </a:rPr>
              <a:t>73.</a:t>
            </a:r>
            <a:r>
              <a:rPr kumimoji="0" lang="en-US" altLang="en-US" sz="2500" b="0" i="0" u="none" strike="noStrike" cap="none" normalizeH="0" baseline="0" dirty="0">
                <a:ln>
                  <a:noFill/>
                </a:ln>
                <a:solidFill>
                  <a:schemeClr val="tx1"/>
                </a:solidFill>
                <a:effectLst/>
                <a:latin typeface="Arial" panose="020B0604020202020204" pitchFamily="34" charset="0"/>
              </a:rPr>
              <a:t>5% of variance in dose rate (R² = 0.737).</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Arial" panose="020B0604020202020204" pitchFamily="34" charset="0"/>
              </a:rPr>
              <a:t>RMSE = 11.76 µ</a:t>
            </a:r>
            <a:r>
              <a:rPr kumimoji="0" lang="en-US" altLang="en-US" sz="2500" b="0" i="0" u="none" strike="noStrike" cap="none" normalizeH="0" baseline="0" dirty="0" err="1">
                <a:ln>
                  <a:noFill/>
                </a:ln>
                <a:solidFill>
                  <a:schemeClr val="tx1"/>
                </a:solidFill>
                <a:effectLst/>
                <a:latin typeface="Arial" panose="020B0604020202020204" pitchFamily="34" charset="0"/>
              </a:rPr>
              <a:t>Sv</a:t>
            </a:r>
            <a:r>
              <a:rPr kumimoji="0" lang="en-US" altLang="en-US" sz="2500" b="0" i="0" u="none" strike="noStrike" cap="none" normalizeH="0" baseline="0" dirty="0">
                <a:ln>
                  <a:noFill/>
                </a:ln>
                <a:solidFill>
                  <a:schemeClr val="tx1"/>
                </a:solidFill>
                <a:effectLst/>
                <a:latin typeface="Arial" panose="020B0604020202020204" pitchFamily="34" charset="0"/>
              </a:rPr>
              <a:t>/s; statistically significant predictors: distance, angle, and kVp.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Arial" panose="020B0604020202020204" pitchFamily="34" charset="0"/>
              </a:rPr>
              <a:t>Aligns with physical laws:</a:t>
            </a:r>
            <a:br>
              <a:rPr kumimoji="0" lang="en-US" altLang="en-US" sz="2500" b="0" i="0" u="none" strike="noStrike" cap="none" normalizeH="0" baseline="0" dirty="0">
                <a:ln>
                  <a:noFill/>
                </a:ln>
                <a:solidFill>
                  <a:schemeClr val="tx1"/>
                </a:solidFill>
                <a:effectLst/>
                <a:latin typeface="Arial" panose="020B0604020202020204" pitchFamily="34" charset="0"/>
              </a:rPr>
            </a:b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1" i="0" u="none" strike="noStrike" cap="none" normalizeH="0" baseline="0" dirty="0">
                <a:ln>
                  <a:noFill/>
                </a:ln>
                <a:solidFill>
                  <a:schemeClr val="tx1"/>
                </a:solidFill>
                <a:effectLst/>
                <a:latin typeface="Arial" panose="020B0604020202020204" pitchFamily="34" charset="0"/>
              </a:rPr>
              <a:t>Inverse square law</a:t>
            </a:r>
            <a:r>
              <a:rPr kumimoji="0" lang="en-US" altLang="en-US" sz="2500" b="0" i="0" u="none" strike="noStrike" cap="none" normalizeH="0" baseline="0" dirty="0">
                <a:ln>
                  <a:noFill/>
                </a:ln>
                <a:solidFill>
                  <a:schemeClr val="tx1"/>
                </a:solidFill>
                <a:effectLst/>
                <a:latin typeface="Arial" panose="020B0604020202020204" pitchFamily="34" charset="0"/>
              </a:rPr>
              <a:t> for distance</a:t>
            </a:r>
            <a:br>
              <a:rPr kumimoji="0" lang="en-US" altLang="en-US" sz="2500" b="0" i="0" u="none" strike="noStrike" cap="none" normalizeH="0" baseline="0" dirty="0">
                <a:ln>
                  <a:noFill/>
                </a:ln>
                <a:solidFill>
                  <a:schemeClr val="tx1"/>
                </a:solidFill>
                <a:effectLst/>
                <a:latin typeface="Arial" panose="020B0604020202020204" pitchFamily="34" charset="0"/>
              </a:rPr>
            </a:b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1" i="0" u="none" strike="noStrike" cap="none" normalizeH="0" baseline="0" dirty="0">
                <a:ln>
                  <a:noFill/>
                </a:ln>
                <a:solidFill>
                  <a:schemeClr val="tx1"/>
                </a:solidFill>
                <a:effectLst/>
                <a:latin typeface="Arial" panose="020B0604020202020204" pitchFamily="34" charset="0"/>
              </a:rPr>
              <a:t>Positive correlation</a:t>
            </a:r>
            <a:r>
              <a:rPr kumimoji="0" lang="en-US" altLang="en-US" sz="2500" b="0" i="0" u="none" strike="noStrike" cap="none" normalizeH="0" baseline="0" dirty="0">
                <a:ln>
                  <a:noFill/>
                </a:ln>
                <a:solidFill>
                  <a:schemeClr val="tx1"/>
                </a:solidFill>
                <a:effectLst/>
                <a:latin typeface="Arial" panose="020B0604020202020204" pitchFamily="34" charset="0"/>
              </a:rPr>
              <a:t> between </a:t>
            </a:r>
            <a:r>
              <a:rPr kumimoji="0" lang="en-US" altLang="en-US" sz="2500" b="0" i="0" u="none" strike="noStrike" cap="none" normalizeH="0" baseline="0" dirty="0" err="1">
                <a:ln>
                  <a:noFill/>
                </a:ln>
                <a:solidFill>
                  <a:schemeClr val="tx1"/>
                </a:solidFill>
                <a:effectLst/>
                <a:latin typeface="Arial" panose="020B0604020202020204" pitchFamily="34" charset="0"/>
              </a:rPr>
              <a:t>kVp</a:t>
            </a:r>
            <a:r>
              <a:rPr kumimoji="0" lang="en-US" altLang="en-US" sz="2500" b="0" i="0" u="none" strike="noStrike" cap="none" normalizeH="0" baseline="0" dirty="0">
                <a:ln>
                  <a:noFill/>
                </a:ln>
                <a:solidFill>
                  <a:schemeClr val="tx1"/>
                </a:solidFill>
                <a:effectLst/>
                <a:latin typeface="Arial" panose="020B0604020202020204" pitchFamily="34" charset="0"/>
              </a:rPr>
              <a:t> and radiation intensity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Arial" panose="020B0604020202020204" pitchFamily="34" charset="0"/>
              </a:rPr>
              <a:t>Strong balance of simplicity, interpretability, and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Arial" panose="020B0604020202020204" pitchFamily="34" charset="0"/>
              </a:rPr>
              <a:t>Provided reliable estimates useful for clinical planning and radiation safety.</a:t>
            </a:r>
          </a:p>
        </p:txBody>
      </p:sp>
    </p:spTree>
    <p:extLst>
      <p:ext uri="{BB962C8B-B14F-4D97-AF65-F5344CB8AC3E}">
        <p14:creationId xmlns:p14="http://schemas.microsoft.com/office/powerpoint/2010/main" val="980283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Quadratic Model Limitations and Final Justification</a:t>
            </a:r>
            <a:br>
              <a:rPr lang="en-US" b="1" dirty="0"/>
            </a:br>
            <a:endParaRPr lang="en-US" dirty="0"/>
          </a:p>
        </p:txBody>
      </p:sp>
      <p:sp>
        <p:nvSpPr>
          <p:cNvPr id="3" name="Content Placeholder 2"/>
          <p:cNvSpPr>
            <a:spLocks noGrp="1"/>
          </p:cNvSpPr>
          <p:nvPr>
            <p:ph idx="1"/>
          </p:nvPr>
        </p:nvSpPr>
        <p:spPr/>
        <p:txBody>
          <a:bodyPr/>
          <a:lstStyle/>
          <a:p>
            <a:r>
              <a:rPr lang="en-US" b="1" dirty="0"/>
              <a:t>Quadratic model</a:t>
            </a:r>
            <a:r>
              <a:rPr lang="en-US" dirty="0"/>
              <a:t> had negative R² → worse than a flat mean prediction.</a:t>
            </a:r>
          </a:p>
          <a:p>
            <a:r>
              <a:rPr lang="en-US" dirty="0"/>
              <a:t>Added complexity through squared terms </a:t>
            </a:r>
            <a:r>
              <a:rPr lang="en-US" b="1" dirty="0"/>
              <a:t>did not improve fit</a:t>
            </a:r>
            <a:r>
              <a:rPr lang="en-US" dirty="0"/>
              <a:t>.</a:t>
            </a:r>
          </a:p>
          <a:p>
            <a:r>
              <a:rPr lang="en-US" dirty="0"/>
              <a:t>Failed due to:</a:t>
            </a:r>
            <a:br>
              <a:rPr lang="en-US" dirty="0"/>
            </a:br>
            <a:r>
              <a:rPr lang="en-US" dirty="0"/>
              <a:t>– Small sample size vs. number of predictors</a:t>
            </a:r>
            <a:br>
              <a:rPr lang="en-US" dirty="0"/>
            </a:br>
            <a:r>
              <a:rPr lang="en-US" dirty="0"/>
              <a:t>– </a:t>
            </a:r>
            <a:r>
              <a:rPr lang="en-US" b="1" dirty="0" err="1"/>
              <a:t>Multicollinearity</a:t>
            </a:r>
            <a:br>
              <a:rPr lang="en-US" dirty="0"/>
            </a:br>
            <a:r>
              <a:rPr lang="en-US" dirty="0"/>
              <a:t>– </a:t>
            </a:r>
            <a:r>
              <a:rPr lang="en-US" b="1" dirty="0"/>
              <a:t>Overfitting</a:t>
            </a:r>
            <a:endParaRPr lang="en-US" dirty="0"/>
          </a:p>
          <a:p>
            <a:r>
              <a:rPr lang="en-US" dirty="0"/>
              <a:t>Predictions deviated sharply from actual data.</a:t>
            </a:r>
          </a:p>
          <a:p>
            <a:r>
              <a:rPr lang="en-US" b="1" dirty="0"/>
              <a:t>Conclusion</a:t>
            </a:r>
            <a:r>
              <a:rPr lang="en-US" dirty="0"/>
              <a:t>: Linear model retained as final model due to its robustness, clarity, and clinical relevance.</a:t>
            </a:r>
          </a:p>
          <a:p>
            <a:endParaRPr lang="en-US" dirty="0"/>
          </a:p>
        </p:txBody>
      </p:sp>
    </p:spTree>
    <p:extLst>
      <p:ext uri="{BB962C8B-B14F-4D97-AF65-F5344CB8AC3E}">
        <p14:creationId xmlns:p14="http://schemas.microsoft.com/office/powerpoint/2010/main" val="4031518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Final Model Evaluation – Purpose &amp; Methodology</a:t>
            </a:r>
          </a:p>
        </p:txBody>
      </p:sp>
      <p:sp>
        <p:nvSpPr>
          <p:cNvPr id="3" name="Content Placeholder 2"/>
          <p:cNvSpPr>
            <a:spLocks noGrp="1"/>
          </p:cNvSpPr>
          <p:nvPr>
            <p:ph idx="1"/>
          </p:nvPr>
        </p:nvSpPr>
        <p:spPr>
          <a:xfrm>
            <a:off x="720135" y="2218381"/>
            <a:ext cx="8946541" cy="4195481"/>
          </a:xfrm>
        </p:spPr>
        <p:txBody>
          <a:bodyPr>
            <a:normAutofit fontScale="85000" lnSpcReduction="10000"/>
          </a:bodyPr>
          <a:lstStyle/>
          <a:p>
            <a:pPr marL="0" indent="0">
              <a:buNone/>
            </a:pPr>
            <a:r>
              <a:rPr lang="en-US" b="1" dirty="0"/>
              <a:t>Purpose of Final Evaluation:</a:t>
            </a:r>
            <a:endParaRPr lang="en-US" dirty="0"/>
          </a:p>
          <a:p>
            <a:r>
              <a:rPr lang="en-US" dirty="0"/>
              <a:t>Test the </a:t>
            </a:r>
            <a:r>
              <a:rPr lang="en-US" b="1" dirty="0"/>
              <a:t>practical performance</a:t>
            </a:r>
            <a:r>
              <a:rPr lang="en-US" dirty="0"/>
              <a:t> of the linear regression model in real-world dental radiography conditions.</a:t>
            </a:r>
          </a:p>
          <a:p>
            <a:r>
              <a:rPr lang="en-US" dirty="0"/>
              <a:t>Determine if the model can </a:t>
            </a:r>
            <a:r>
              <a:rPr lang="en-US" b="1" dirty="0"/>
              <a:t>accurately predict dose rates</a:t>
            </a:r>
            <a:r>
              <a:rPr lang="en-US" dirty="0"/>
              <a:t> using new data.</a:t>
            </a:r>
          </a:p>
          <a:p>
            <a:pPr marL="0" indent="0">
              <a:buNone/>
            </a:pPr>
            <a:r>
              <a:rPr lang="en-US" b="1" dirty="0"/>
              <a:t>Dataset &amp; Measurement:</a:t>
            </a:r>
            <a:endParaRPr lang="en-US" dirty="0"/>
          </a:p>
          <a:p>
            <a:r>
              <a:rPr lang="en-US" dirty="0"/>
              <a:t>Training data included varied </a:t>
            </a:r>
            <a:r>
              <a:rPr lang="en-US" b="1" dirty="0" err="1"/>
              <a:t>kVp</a:t>
            </a:r>
            <a:r>
              <a:rPr lang="en-US" b="1" dirty="0"/>
              <a:t>, mA, distance, and angle</a:t>
            </a:r>
            <a:r>
              <a:rPr lang="en-US" dirty="0"/>
              <a:t> combinations.</a:t>
            </a:r>
          </a:p>
          <a:p>
            <a:r>
              <a:rPr lang="en-US" dirty="0"/>
              <a:t>All dose measurements taken using a </a:t>
            </a:r>
            <a:r>
              <a:rPr lang="en-US" b="1" dirty="0"/>
              <a:t>calibrated FS2011+ dosimeter</a:t>
            </a:r>
            <a:r>
              <a:rPr lang="en-US" dirty="0"/>
              <a:t>.</a:t>
            </a:r>
          </a:p>
          <a:p>
            <a:r>
              <a:rPr lang="en-US" dirty="0"/>
              <a:t>Evaluation set used </a:t>
            </a:r>
            <a:r>
              <a:rPr lang="en-US" b="1" dirty="0"/>
              <a:t>unseen combinations</a:t>
            </a:r>
            <a:r>
              <a:rPr lang="en-US" dirty="0"/>
              <a:t> under identical conditions.</a:t>
            </a:r>
          </a:p>
          <a:p>
            <a:pPr marL="0" indent="0">
              <a:buNone/>
            </a:pPr>
            <a:r>
              <a:rPr lang="en-US" b="1" dirty="0"/>
              <a:t>Evaluation Process:</a:t>
            </a:r>
            <a:endParaRPr lang="en-US" dirty="0"/>
          </a:p>
          <a:p>
            <a:r>
              <a:rPr lang="en-US" dirty="0"/>
              <a:t>Applied the regression formula to evaluation data.</a:t>
            </a:r>
          </a:p>
          <a:p>
            <a:r>
              <a:rPr lang="en-US" dirty="0"/>
              <a:t>Compared </a:t>
            </a:r>
            <a:r>
              <a:rPr lang="en-US" b="1" dirty="0"/>
              <a:t>predicted dose rates</a:t>
            </a:r>
            <a:r>
              <a:rPr lang="en-US" dirty="0"/>
              <a:t> with </a:t>
            </a:r>
            <a:r>
              <a:rPr lang="en-US" b="1" dirty="0"/>
              <a:t>actual measured values</a:t>
            </a:r>
            <a:r>
              <a:rPr lang="en-US" dirty="0"/>
              <a:t>.</a:t>
            </a:r>
          </a:p>
          <a:p>
            <a:r>
              <a:rPr lang="en-US" dirty="0"/>
              <a:t>Assessed model using </a:t>
            </a:r>
            <a:r>
              <a:rPr lang="en-US" b="1" dirty="0"/>
              <a:t>error metrics and prediction accuracy</a:t>
            </a:r>
            <a:r>
              <a:rPr lang="en-US" dirty="0"/>
              <a:t>.</a:t>
            </a:r>
          </a:p>
        </p:txBody>
      </p:sp>
    </p:spTree>
    <p:extLst>
      <p:ext uri="{BB962C8B-B14F-4D97-AF65-F5344CB8AC3E}">
        <p14:creationId xmlns:p14="http://schemas.microsoft.com/office/powerpoint/2010/main" val="13052544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Accuracy Assessment of the Model</a:t>
            </a:r>
          </a:p>
        </p:txBody>
      </p:sp>
      <p:sp>
        <p:nvSpPr>
          <p:cNvPr id="3" name="Content Placeholder 2"/>
          <p:cNvSpPr>
            <a:spLocks noGrp="1"/>
          </p:cNvSpPr>
          <p:nvPr>
            <p:ph idx="1"/>
          </p:nvPr>
        </p:nvSpPr>
        <p:spPr>
          <a:xfrm>
            <a:off x="493712" y="1853248"/>
            <a:ext cx="8946541" cy="4195481"/>
          </a:xfrm>
        </p:spPr>
        <p:txBody>
          <a:bodyPr/>
          <a:lstStyle/>
          <a:p>
            <a:pPr marL="0" indent="0">
              <a:buNone/>
            </a:pPr>
            <a:r>
              <a:rPr lang="en-US" b="1" dirty="0"/>
              <a:t>Comparative Dataset Analysis:</a:t>
            </a:r>
            <a:endParaRPr lang="en-US" dirty="0"/>
          </a:p>
          <a:p>
            <a:r>
              <a:rPr lang="en-US" dirty="0"/>
              <a:t>Constructed a </a:t>
            </a:r>
            <a:r>
              <a:rPr lang="en-US" b="1" dirty="0"/>
              <a:t>side-by-side table</a:t>
            </a:r>
            <a:r>
              <a:rPr lang="en-US" dirty="0"/>
              <a:t> of actual vs. predicted dose rates.</a:t>
            </a:r>
          </a:p>
          <a:p>
            <a:r>
              <a:rPr lang="en-US" dirty="0"/>
              <a:t>Calculated errors between each pair to assess </a:t>
            </a:r>
            <a:r>
              <a:rPr lang="en-US" b="1" dirty="0"/>
              <a:t>consistency</a:t>
            </a:r>
            <a:r>
              <a:rPr lang="en-US" dirty="0"/>
              <a:t>.</a:t>
            </a:r>
          </a:p>
          <a:p>
            <a:r>
              <a:rPr lang="en-US" b="1" dirty="0"/>
              <a:t>What Was Evaluated:</a:t>
            </a:r>
            <a:endParaRPr lang="en-US" dirty="0"/>
          </a:p>
          <a:p>
            <a:pPr marL="0" indent="0">
              <a:buNone/>
            </a:pPr>
            <a:r>
              <a:rPr lang="en-US" b="1" dirty="0"/>
              <a:t>Generalizability</a:t>
            </a:r>
            <a:r>
              <a:rPr lang="en-US" dirty="0"/>
              <a:t> of the model to new data.</a:t>
            </a:r>
          </a:p>
          <a:p>
            <a:r>
              <a:rPr lang="en-US" dirty="0"/>
              <a:t>Model's responsiveness to </a:t>
            </a:r>
            <a:r>
              <a:rPr lang="en-US" b="1" dirty="0"/>
              <a:t>variations in technical settings</a:t>
            </a:r>
            <a:r>
              <a:rPr lang="en-US" dirty="0"/>
              <a:t> and spatial factors.</a:t>
            </a:r>
          </a:p>
          <a:p>
            <a:pPr marL="0" indent="0">
              <a:buNone/>
            </a:pPr>
            <a:r>
              <a:rPr lang="en-US" b="1" dirty="0"/>
              <a:t>Key Findings:</a:t>
            </a:r>
            <a:endParaRPr lang="en-US" dirty="0"/>
          </a:p>
          <a:p>
            <a:r>
              <a:rPr lang="en-US" dirty="0"/>
              <a:t>Linear model maintained </a:t>
            </a:r>
            <a:r>
              <a:rPr lang="en-US" b="1" dirty="0"/>
              <a:t>robust accuracy</a:t>
            </a:r>
            <a:r>
              <a:rPr lang="en-US" dirty="0"/>
              <a:t> across most test cases.</a:t>
            </a:r>
          </a:p>
          <a:p>
            <a:r>
              <a:rPr lang="en-US" dirty="0"/>
              <a:t>Demonstrated potential for </a:t>
            </a:r>
            <a:r>
              <a:rPr lang="en-US" b="1" dirty="0"/>
              <a:t>clinical use in estimating exposure</a:t>
            </a:r>
            <a:r>
              <a:rPr lang="en-US" dirty="0"/>
              <a:t>.</a:t>
            </a:r>
          </a:p>
        </p:txBody>
      </p:sp>
    </p:spTree>
    <p:extLst>
      <p:ext uri="{BB962C8B-B14F-4D97-AF65-F5344CB8AC3E}">
        <p14:creationId xmlns:p14="http://schemas.microsoft.com/office/powerpoint/2010/main" val="40720916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Graphical Comparison – Measured vs Predicted</a:t>
            </a:r>
          </a:p>
        </p:txBody>
      </p:sp>
      <p:sp>
        <p:nvSpPr>
          <p:cNvPr id="3" name="Content Placeholder 2"/>
          <p:cNvSpPr>
            <a:spLocks noGrp="1"/>
          </p:cNvSpPr>
          <p:nvPr>
            <p:ph idx="1"/>
          </p:nvPr>
        </p:nvSpPr>
        <p:spPr>
          <a:xfrm>
            <a:off x="319540" y="2349009"/>
            <a:ext cx="6246723" cy="4195481"/>
          </a:xfrm>
        </p:spPr>
        <p:txBody>
          <a:bodyPr>
            <a:normAutofit fontScale="62500" lnSpcReduction="20000"/>
          </a:bodyPr>
          <a:lstStyle/>
          <a:p>
            <a:pPr marL="0" indent="0">
              <a:buNone/>
            </a:pPr>
            <a:r>
              <a:rPr lang="en-US" b="1" dirty="0"/>
              <a:t>Visualization Approach:</a:t>
            </a:r>
            <a:endParaRPr lang="en-US" dirty="0"/>
          </a:p>
          <a:p>
            <a:r>
              <a:rPr lang="en-US" dirty="0"/>
              <a:t>Created a </a:t>
            </a:r>
            <a:r>
              <a:rPr lang="en-US" b="1" dirty="0"/>
              <a:t>line graph</a:t>
            </a:r>
            <a:r>
              <a:rPr lang="en-US" dirty="0"/>
              <a:t> showing measured vs. predicted dose rates for </a:t>
            </a:r>
            <a:r>
              <a:rPr lang="en-US" b="1" dirty="0"/>
              <a:t>48 test cases</a:t>
            </a:r>
            <a:r>
              <a:rPr lang="en-US" dirty="0"/>
              <a:t>.</a:t>
            </a:r>
          </a:p>
          <a:p>
            <a:r>
              <a:rPr lang="en-US" b="1" dirty="0"/>
              <a:t>X-axis</a:t>
            </a:r>
            <a:r>
              <a:rPr lang="en-US" dirty="0"/>
              <a:t>: each test case (unique </a:t>
            </a:r>
            <a:r>
              <a:rPr lang="en-US" dirty="0" err="1"/>
              <a:t>kVp</a:t>
            </a:r>
            <a:r>
              <a:rPr lang="en-US" dirty="0"/>
              <a:t>, mA, distance, angle).</a:t>
            </a:r>
          </a:p>
          <a:p>
            <a:r>
              <a:rPr lang="en-US" b="1" dirty="0"/>
              <a:t>Y-axis</a:t>
            </a:r>
            <a:r>
              <a:rPr lang="en-US" dirty="0"/>
              <a:t>: dose rate in µ</a:t>
            </a:r>
            <a:r>
              <a:rPr lang="en-US" dirty="0" err="1"/>
              <a:t>Sv</a:t>
            </a:r>
            <a:r>
              <a:rPr lang="en-US" dirty="0"/>
              <a:t>/s.</a:t>
            </a:r>
          </a:p>
          <a:p>
            <a:pPr marL="0" indent="0">
              <a:buNone/>
            </a:pPr>
            <a:r>
              <a:rPr lang="en-US" b="1" dirty="0"/>
              <a:t>Graph Behavior:</a:t>
            </a:r>
            <a:endParaRPr lang="en-US" dirty="0"/>
          </a:p>
          <a:p>
            <a:r>
              <a:rPr lang="en-US" dirty="0"/>
              <a:t>Both curves showed </a:t>
            </a:r>
            <a:r>
              <a:rPr lang="en-US" b="1" dirty="0"/>
              <a:t>similar oscillations</a:t>
            </a:r>
            <a:r>
              <a:rPr lang="en-US" dirty="0"/>
              <a:t>, reflecting changes in beam angle and distance.</a:t>
            </a:r>
          </a:p>
          <a:p>
            <a:r>
              <a:rPr lang="en-US" dirty="0"/>
              <a:t>Peaks = positions aligned with the X-ray beam.</a:t>
            </a:r>
          </a:p>
          <a:p>
            <a:r>
              <a:rPr lang="en-US" dirty="0"/>
              <a:t>Valleys = shielded or peripheral positions.</a:t>
            </a:r>
          </a:p>
          <a:p>
            <a:pPr marL="0" indent="0">
              <a:buNone/>
            </a:pPr>
            <a:r>
              <a:rPr lang="en-US" b="1" dirty="0"/>
              <a:t>Interpretation:</a:t>
            </a:r>
            <a:endParaRPr lang="en-US" dirty="0"/>
          </a:p>
          <a:p>
            <a:r>
              <a:rPr lang="en-US" dirty="0"/>
              <a:t>Predicted values </a:t>
            </a:r>
            <a:r>
              <a:rPr lang="en-US" b="1" dirty="0"/>
              <a:t>tracked actual trends well</a:t>
            </a:r>
            <a:r>
              <a:rPr lang="en-US" dirty="0"/>
              <a:t>, with only minor deviations.</a:t>
            </a:r>
          </a:p>
          <a:p>
            <a:r>
              <a:rPr lang="en-US" dirty="0"/>
              <a:t>Model captured </a:t>
            </a:r>
            <a:r>
              <a:rPr lang="en-US" b="1" dirty="0"/>
              <a:t>real-world variations dynamically</a:t>
            </a:r>
            <a:r>
              <a:rPr lang="en-US" dirty="0"/>
              <a:t>, not just averages.</a:t>
            </a:r>
          </a:p>
          <a:p>
            <a:r>
              <a:rPr lang="en-US" dirty="0"/>
              <a:t>Confirms model’s value for </a:t>
            </a:r>
            <a:r>
              <a:rPr lang="en-US" b="1" dirty="0"/>
              <a:t>predictive dose assessment</a:t>
            </a:r>
            <a:r>
              <a:rPr lang="en-US" dirty="0"/>
              <a:t> in dental settings.</a:t>
            </a:r>
          </a:p>
        </p:txBody>
      </p:sp>
      <p:pic>
        <p:nvPicPr>
          <p:cNvPr id="4" name="Picture 3"/>
          <p:cNvPicPr>
            <a:picLocks noChangeAspect="1"/>
          </p:cNvPicPr>
          <p:nvPr/>
        </p:nvPicPr>
        <p:blipFill>
          <a:blip r:embed="rId2"/>
          <a:stretch>
            <a:fillRect/>
          </a:stretch>
        </p:blipFill>
        <p:spPr>
          <a:xfrm>
            <a:off x="6869975" y="2820284"/>
            <a:ext cx="5140555" cy="2416907"/>
          </a:xfrm>
          <a:prstGeom prst="rect">
            <a:avLst/>
          </a:prstGeom>
        </p:spPr>
      </p:pic>
      <p:sp>
        <p:nvSpPr>
          <p:cNvPr id="5" name="TextBox 4"/>
          <p:cNvSpPr txBox="1"/>
          <p:nvPr/>
        </p:nvSpPr>
        <p:spPr>
          <a:xfrm>
            <a:off x="9744891" y="5138058"/>
            <a:ext cx="2265639" cy="400110"/>
          </a:xfrm>
          <a:prstGeom prst="rect">
            <a:avLst/>
          </a:prstGeom>
          <a:solidFill>
            <a:schemeClr val="tx1"/>
          </a:solidFill>
        </p:spPr>
        <p:txBody>
          <a:bodyPr wrap="square" rtlCol="0">
            <a:spAutoFit/>
          </a:bodyPr>
          <a:lstStyle/>
          <a:p>
            <a:r>
              <a:rPr lang="en-US" sz="1000" b="1" dirty="0">
                <a:solidFill>
                  <a:schemeClr val="bg1"/>
                </a:solidFill>
              </a:rPr>
              <a:t>x-axis: </a:t>
            </a:r>
            <a:r>
              <a:rPr lang="en-US" sz="1000" dirty="0">
                <a:solidFill>
                  <a:schemeClr val="bg1"/>
                </a:solidFill>
              </a:rPr>
              <a:t>Number of Observations </a:t>
            </a:r>
          </a:p>
          <a:p>
            <a:r>
              <a:rPr lang="en-US" sz="1000" b="1" dirty="0">
                <a:solidFill>
                  <a:schemeClr val="bg1"/>
                </a:solidFill>
              </a:rPr>
              <a:t>y-axis: </a:t>
            </a:r>
            <a:r>
              <a:rPr lang="en-US" sz="1000" dirty="0">
                <a:solidFill>
                  <a:schemeClr val="bg1"/>
                </a:solidFill>
              </a:rPr>
              <a:t>Dose Rate</a:t>
            </a:r>
          </a:p>
        </p:txBody>
      </p:sp>
    </p:spTree>
    <p:extLst>
      <p:ext uri="{BB962C8B-B14F-4D97-AF65-F5344CB8AC3E}">
        <p14:creationId xmlns:p14="http://schemas.microsoft.com/office/powerpoint/2010/main" val="23405006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Quantitative Analysis of Prediction Accuracy</a:t>
            </a:r>
          </a:p>
        </p:txBody>
      </p:sp>
      <p:sp>
        <p:nvSpPr>
          <p:cNvPr id="3" name="Content Placeholder 2"/>
          <p:cNvSpPr>
            <a:spLocks noGrp="1"/>
          </p:cNvSpPr>
          <p:nvPr>
            <p:ph idx="1"/>
          </p:nvPr>
        </p:nvSpPr>
        <p:spPr>
          <a:xfrm>
            <a:off x="519838" y="2087752"/>
            <a:ext cx="8946541" cy="4522054"/>
          </a:xfrm>
        </p:spPr>
        <p:txBody>
          <a:bodyPr>
            <a:normAutofit fontScale="85000" lnSpcReduction="10000"/>
          </a:bodyPr>
          <a:lstStyle/>
          <a:p>
            <a:pPr marL="0" indent="0">
              <a:buNone/>
            </a:pPr>
            <a:r>
              <a:rPr lang="en-US" b="1" dirty="0"/>
              <a:t>Purpose of Analysis:</a:t>
            </a:r>
            <a:endParaRPr lang="en-US" dirty="0"/>
          </a:p>
          <a:p>
            <a:r>
              <a:rPr lang="en-US" dirty="0"/>
              <a:t>To measure how closely predicted dose rates matched actual readings.</a:t>
            </a:r>
          </a:p>
          <a:p>
            <a:endParaRPr lang="en-US" dirty="0"/>
          </a:p>
          <a:p>
            <a:endParaRPr lang="en-US" dirty="0"/>
          </a:p>
          <a:p>
            <a:endParaRPr lang="en-US" dirty="0"/>
          </a:p>
          <a:p>
            <a:endParaRPr lang="en-US" dirty="0"/>
          </a:p>
          <a:p>
            <a:endParaRPr lang="en-US" dirty="0"/>
          </a:p>
          <a:p>
            <a:endParaRPr lang="en-US" dirty="0"/>
          </a:p>
          <a:p>
            <a:pPr marL="0" indent="0">
              <a:buNone/>
            </a:pPr>
            <a:r>
              <a:rPr lang="en-US" b="1" dirty="0"/>
              <a:t>Interpretation:</a:t>
            </a:r>
            <a:endParaRPr lang="en-US" dirty="0"/>
          </a:p>
          <a:p>
            <a:r>
              <a:rPr lang="en-US" dirty="0"/>
              <a:t>MAE is acceptable given measured range (~15–70 µ</a:t>
            </a:r>
            <a:r>
              <a:rPr lang="en-US" dirty="0" err="1"/>
              <a:t>Sv</a:t>
            </a:r>
            <a:r>
              <a:rPr lang="en-US" dirty="0"/>
              <a:t>/s).</a:t>
            </a:r>
          </a:p>
          <a:p>
            <a:r>
              <a:rPr lang="en-US" dirty="0"/>
              <a:t>Larger deviations occurred at edge conditions (e.g., uncommon angles/distances).</a:t>
            </a:r>
          </a:p>
          <a:p>
            <a:r>
              <a:rPr lang="en-US" dirty="0"/>
              <a:t>Consistent trend alignment supports model’s reliability in dental dose estimation.</a:t>
            </a:r>
          </a:p>
        </p:txBody>
      </p:sp>
      <p:pic>
        <p:nvPicPr>
          <p:cNvPr id="6" name="Picture 5">
            <a:extLst>
              <a:ext uri="{FF2B5EF4-FFF2-40B4-BE49-F238E27FC236}">
                <a16:creationId xmlns:a16="http://schemas.microsoft.com/office/drawing/2014/main" id="{90F7D139-49AB-D2B1-41F2-7CB3EAF0285E}"/>
              </a:ext>
            </a:extLst>
          </p:cNvPr>
          <p:cNvPicPr>
            <a:picLocks noChangeAspect="1"/>
          </p:cNvPicPr>
          <p:nvPr/>
        </p:nvPicPr>
        <p:blipFill>
          <a:blip r:embed="rId2"/>
          <a:stretch>
            <a:fillRect/>
          </a:stretch>
        </p:blipFill>
        <p:spPr>
          <a:xfrm>
            <a:off x="646111" y="3040974"/>
            <a:ext cx="3264068" cy="1568531"/>
          </a:xfrm>
          <a:prstGeom prst="rect">
            <a:avLst/>
          </a:prstGeom>
        </p:spPr>
      </p:pic>
    </p:spTree>
    <p:extLst>
      <p:ext uri="{BB962C8B-B14F-4D97-AF65-F5344CB8AC3E}">
        <p14:creationId xmlns:p14="http://schemas.microsoft.com/office/powerpoint/2010/main" val="3865455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Error Distribution and Pattern Behavior</a:t>
            </a:r>
          </a:p>
        </p:txBody>
      </p:sp>
      <p:sp>
        <p:nvSpPr>
          <p:cNvPr id="3" name="Content Placeholder 2"/>
          <p:cNvSpPr>
            <a:spLocks noGrp="1"/>
          </p:cNvSpPr>
          <p:nvPr>
            <p:ph idx="1"/>
          </p:nvPr>
        </p:nvSpPr>
        <p:spPr>
          <a:xfrm>
            <a:off x="746260" y="2087752"/>
            <a:ext cx="8946541" cy="4522053"/>
          </a:xfrm>
        </p:spPr>
        <p:txBody>
          <a:bodyPr>
            <a:normAutofit fontScale="85000" lnSpcReduction="10000"/>
          </a:bodyPr>
          <a:lstStyle/>
          <a:p>
            <a:pPr marL="0" indent="0">
              <a:buNone/>
            </a:pPr>
            <a:r>
              <a:rPr lang="en-US" b="1" dirty="0"/>
              <a:t>Observed Trends in Error:</a:t>
            </a:r>
            <a:endParaRPr lang="en-US" dirty="0"/>
          </a:p>
          <a:p>
            <a:r>
              <a:rPr lang="en-US" b="1" dirty="0" err="1"/>
              <a:t>Underpredictions</a:t>
            </a:r>
            <a:r>
              <a:rPr lang="en-US" dirty="0"/>
              <a:t> more common at low-dose conditions (peripheral angles/long distances).</a:t>
            </a:r>
          </a:p>
          <a:p>
            <a:r>
              <a:rPr lang="en-US" b="1" dirty="0" err="1"/>
              <a:t>Overpredictions</a:t>
            </a:r>
            <a:r>
              <a:rPr lang="en-US" dirty="0"/>
              <a:t> occurred in mid-dose range, likely due to environmental effects.</a:t>
            </a:r>
          </a:p>
          <a:p>
            <a:pPr marL="0" indent="0">
              <a:buNone/>
            </a:pPr>
            <a:r>
              <a:rPr lang="en-US" b="1" dirty="0"/>
              <a:t>Graph Analysis Insights:</a:t>
            </a:r>
            <a:endParaRPr lang="en-US" dirty="0"/>
          </a:p>
          <a:p>
            <a:r>
              <a:rPr lang="en-US" dirty="0"/>
              <a:t>Predicted and actual curves aligned well but showed </a:t>
            </a:r>
            <a:r>
              <a:rPr lang="en-US" b="1" dirty="0"/>
              <a:t>small oscillatory offsets</a:t>
            </a:r>
            <a:r>
              <a:rPr lang="en-US" dirty="0"/>
              <a:t>.</a:t>
            </a:r>
          </a:p>
          <a:p>
            <a:r>
              <a:rPr lang="en-US" dirty="0"/>
              <a:t>Model reacted linearly, but real-world data had slight </a:t>
            </a:r>
            <a:r>
              <a:rPr lang="en-US" b="1" dirty="0"/>
              <a:t>nonlinear fluctuations</a:t>
            </a:r>
            <a:r>
              <a:rPr lang="en-US" dirty="0"/>
              <a:t>.</a:t>
            </a:r>
          </a:p>
          <a:p>
            <a:pPr marL="0" indent="0">
              <a:buNone/>
            </a:pPr>
            <a:r>
              <a:rPr lang="en-US" b="1" dirty="0"/>
              <a:t>Conclusion:</a:t>
            </a:r>
            <a:endParaRPr lang="en-US" dirty="0"/>
          </a:p>
          <a:p>
            <a:r>
              <a:rPr lang="en-US" dirty="0"/>
              <a:t>No consistent bias (errors centered around zero).</a:t>
            </a:r>
          </a:p>
          <a:p>
            <a:r>
              <a:rPr lang="en-US" dirty="0"/>
              <a:t>Model is </a:t>
            </a:r>
            <a:r>
              <a:rPr lang="en-US" b="1" dirty="0"/>
              <a:t>balanced and generally accurate</a:t>
            </a:r>
            <a:r>
              <a:rPr lang="en-US" dirty="0"/>
              <a:t>, with </a:t>
            </a:r>
            <a:r>
              <a:rPr lang="en-US" b="1" dirty="0"/>
              <a:t>higher variability</a:t>
            </a:r>
            <a:r>
              <a:rPr lang="en-US" dirty="0"/>
              <a:t> in low-dose or transition zones.</a:t>
            </a:r>
          </a:p>
          <a:p>
            <a:r>
              <a:rPr lang="en-US" dirty="0"/>
              <a:t>Useful for practical applications; future models could benefit from more data or added nonlinearity.</a:t>
            </a:r>
          </a:p>
          <a:p>
            <a:endParaRPr lang="en-US" dirty="0"/>
          </a:p>
        </p:txBody>
      </p:sp>
    </p:spTree>
    <p:extLst>
      <p:ext uri="{BB962C8B-B14F-4D97-AF65-F5344CB8AC3E}">
        <p14:creationId xmlns:p14="http://schemas.microsoft.com/office/powerpoint/2010/main" val="3549043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 Strengths &amp; Weaknesses</a:t>
            </a:r>
          </a:p>
        </p:txBody>
      </p:sp>
      <p:graphicFrame>
        <p:nvGraphicFramePr>
          <p:cNvPr id="4" name="Table 3"/>
          <p:cNvGraphicFramePr>
            <a:graphicFrameLocks noGrp="1"/>
          </p:cNvGraphicFramePr>
          <p:nvPr>
            <p:extLst>
              <p:ext uri="{D42A27DB-BD31-4B8C-83A1-F6EECF244321}">
                <p14:modId xmlns:p14="http://schemas.microsoft.com/office/powerpoint/2010/main" val="4271443328"/>
              </p:ext>
            </p:extLst>
          </p:nvPr>
        </p:nvGraphicFramePr>
        <p:xfrm>
          <a:off x="1030514" y="1717077"/>
          <a:ext cx="9228184" cy="4405048"/>
        </p:xfrm>
        <a:graphic>
          <a:graphicData uri="http://schemas.openxmlformats.org/drawingml/2006/table">
            <a:tbl>
              <a:tblPr firstRow="1" bandRow="1">
                <a:tableStyleId>{5C22544A-7EE6-4342-B048-85BDC9FD1C3A}</a:tableStyleId>
              </a:tblPr>
              <a:tblGrid>
                <a:gridCol w="4614092">
                  <a:extLst>
                    <a:ext uri="{9D8B030D-6E8A-4147-A177-3AD203B41FA5}">
                      <a16:colId xmlns:a16="http://schemas.microsoft.com/office/drawing/2014/main" val="1794655130"/>
                    </a:ext>
                  </a:extLst>
                </a:gridCol>
                <a:gridCol w="4614092">
                  <a:extLst>
                    <a:ext uri="{9D8B030D-6E8A-4147-A177-3AD203B41FA5}">
                      <a16:colId xmlns:a16="http://schemas.microsoft.com/office/drawing/2014/main" val="3227189102"/>
                    </a:ext>
                  </a:extLst>
                </a:gridCol>
              </a:tblGrid>
              <a:tr h="435140">
                <a:tc>
                  <a:txBody>
                    <a:bodyPr/>
                    <a:lstStyle/>
                    <a:p>
                      <a:r>
                        <a:rPr lang="en-US" b="1" dirty="0"/>
                        <a:t> Strengths</a:t>
                      </a:r>
                      <a:endParaRPr lang="en-US" dirty="0"/>
                    </a:p>
                  </a:txBody>
                  <a:tcPr/>
                </a:tc>
                <a:tc>
                  <a:txBody>
                    <a:bodyPr/>
                    <a:lstStyle/>
                    <a:p>
                      <a:r>
                        <a:rPr lang="en-US" b="1" dirty="0"/>
                        <a:t>Weaknesses</a:t>
                      </a:r>
                      <a:endParaRPr lang="en-US" dirty="0"/>
                    </a:p>
                  </a:txBody>
                  <a:tcPr/>
                </a:tc>
                <a:extLst>
                  <a:ext uri="{0D108BD9-81ED-4DB2-BD59-A6C34878D82A}">
                    <a16:rowId xmlns:a16="http://schemas.microsoft.com/office/drawing/2014/main" val="1114325871"/>
                  </a:ext>
                </a:extLst>
              </a:tr>
              <a:tr h="1072948">
                <a:tc>
                  <a:txBody>
                    <a:bodyPr/>
                    <a:lstStyle/>
                    <a:p>
                      <a:r>
                        <a:rPr lang="en-US" dirty="0"/>
                        <a:t>Accurately captures trends across distance, angle, </a:t>
                      </a:r>
                      <a:r>
                        <a:rPr lang="en-US" dirty="0" err="1"/>
                        <a:t>kVp</a:t>
                      </a:r>
                      <a:r>
                        <a:rPr lang="en-US" dirty="0"/>
                        <a:t>, and mA.</a:t>
                      </a:r>
                    </a:p>
                  </a:txBody>
                  <a:tcPr/>
                </a:tc>
                <a:tc>
                  <a:txBody>
                    <a:bodyPr/>
                    <a:lstStyle/>
                    <a:p>
                      <a:r>
                        <a:rPr lang="en-US" dirty="0"/>
                        <a:t>Reduced accuracy at low-dose conditions (far distances or peripheral angles).</a:t>
                      </a:r>
                    </a:p>
                  </a:txBody>
                  <a:tcPr/>
                </a:tc>
                <a:extLst>
                  <a:ext uri="{0D108BD9-81ED-4DB2-BD59-A6C34878D82A}">
                    <a16:rowId xmlns:a16="http://schemas.microsoft.com/office/drawing/2014/main" val="3860282996"/>
                  </a:ext>
                </a:extLst>
              </a:tr>
              <a:tr h="1072948">
                <a:tc>
                  <a:txBody>
                    <a:bodyPr/>
                    <a:lstStyle/>
                    <a:p>
                      <a:r>
                        <a:rPr lang="en-US" dirty="0"/>
                        <a:t>Easy to interpret: coefficients directly map to real clinical parameters.</a:t>
                      </a:r>
                    </a:p>
                  </a:txBody>
                  <a:tcPr/>
                </a:tc>
                <a:tc>
                  <a:txBody>
                    <a:bodyPr/>
                    <a:lstStyle/>
                    <a:p>
                      <a:r>
                        <a:rPr lang="en-US" dirty="0"/>
                        <a:t>Narrow range of mA (4–7 mA) limits generalization.</a:t>
                      </a:r>
                    </a:p>
                  </a:txBody>
                  <a:tcPr/>
                </a:tc>
                <a:extLst>
                  <a:ext uri="{0D108BD9-81ED-4DB2-BD59-A6C34878D82A}">
                    <a16:rowId xmlns:a16="http://schemas.microsoft.com/office/drawing/2014/main" val="67268148"/>
                  </a:ext>
                </a:extLst>
              </a:tr>
              <a:tr h="751064">
                <a:tc>
                  <a:txBody>
                    <a:bodyPr/>
                    <a:lstStyle/>
                    <a:p>
                      <a:r>
                        <a:rPr lang="en-US" dirty="0"/>
                        <a:t>Balanced error distribution (no consistent over/underestimation).</a:t>
                      </a:r>
                    </a:p>
                  </a:txBody>
                  <a:tcPr/>
                </a:tc>
                <a:tc>
                  <a:txBody>
                    <a:bodyPr/>
                    <a:lstStyle/>
                    <a:p>
                      <a:r>
                        <a:rPr lang="en-US" dirty="0"/>
                        <a:t>No nonlinear or interaction terms included.</a:t>
                      </a:r>
                    </a:p>
                  </a:txBody>
                  <a:tcPr/>
                </a:tc>
                <a:extLst>
                  <a:ext uri="{0D108BD9-81ED-4DB2-BD59-A6C34878D82A}">
                    <a16:rowId xmlns:a16="http://schemas.microsoft.com/office/drawing/2014/main" val="2968364993"/>
                  </a:ext>
                </a:extLst>
              </a:tr>
              <a:tr h="1072948">
                <a:tc>
                  <a:txBody>
                    <a:bodyPr/>
                    <a:lstStyle/>
                    <a:p>
                      <a:r>
                        <a:rPr lang="en-US" dirty="0"/>
                        <a:t>Clinically acceptable accuracy (MAE: 9.02 µ</a:t>
                      </a:r>
                      <a:r>
                        <a:rPr lang="en-US" dirty="0" err="1"/>
                        <a:t>Sv</a:t>
                      </a:r>
                      <a:r>
                        <a:rPr lang="en-US" dirty="0"/>
                        <a:t>/s over 48 cases).</a:t>
                      </a:r>
                    </a:p>
                    <a:p>
                      <a:endParaRPr lang="en-US" dirty="0"/>
                    </a:p>
                  </a:txBody>
                  <a:tcPr/>
                </a:tc>
                <a:tc>
                  <a:txBody>
                    <a:bodyPr/>
                    <a:lstStyle/>
                    <a:p>
                      <a:r>
                        <a:rPr lang="en-US" dirty="0"/>
                        <a:t>Small dataset (n=50 for training, n=48 for validation).</a:t>
                      </a:r>
                    </a:p>
                  </a:txBody>
                  <a:tcPr/>
                </a:tc>
                <a:extLst>
                  <a:ext uri="{0D108BD9-81ED-4DB2-BD59-A6C34878D82A}">
                    <a16:rowId xmlns:a16="http://schemas.microsoft.com/office/drawing/2014/main" val="1861634521"/>
                  </a:ext>
                </a:extLst>
              </a:tr>
            </a:tbl>
          </a:graphicData>
        </a:graphic>
      </p:graphicFrame>
    </p:spTree>
    <p:extLst>
      <p:ext uri="{BB962C8B-B14F-4D97-AF65-F5344CB8AC3E}">
        <p14:creationId xmlns:p14="http://schemas.microsoft.com/office/powerpoint/2010/main" val="37856249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Clinical Use &amp; Safety Impact</a:t>
            </a:r>
          </a:p>
        </p:txBody>
      </p:sp>
      <p:sp>
        <p:nvSpPr>
          <p:cNvPr id="3" name="Content Placeholder 2"/>
          <p:cNvSpPr>
            <a:spLocks noGrp="1"/>
          </p:cNvSpPr>
          <p:nvPr>
            <p:ph idx="1"/>
          </p:nvPr>
        </p:nvSpPr>
        <p:spPr>
          <a:xfrm>
            <a:off x="432753" y="1853248"/>
            <a:ext cx="8946541" cy="4539471"/>
          </a:xfrm>
        </p:spPr>
        <p:txBody>
          <a:bodyPr>
            <a:normAutofit fontScale="92500" lnSpcReduction="20000"/>
          </a:bodyPr>
          <a:lstStyle/>
          <a:p>
            <a:pPr marL="0" indent="0">
              <a:buNone/>
            </a:pPr>
            <a:r>
              <a:rPr lang="en-US" b="1" dirty="0"/>
              <a:t>Why This Model Matters in Clinics:</a:t>
            </a:r>
            <a:endParaRPr lang="en-US" dirty="0"/>
          </a:p>
          <a:p>
            <a:r>
              <a:rPr lang="en-US" dirty="0"/>
              <a:t>Predicts operator exposure without dosimeter for standard settings.</a:t>
            </a:r>
          </a:p>
          <a:p>
            <a:r>
              <a:rPr lang="en-US" dirty="0"/>
              <a:t>Helps apply ALARA principle in real time.</a:t>
            </a:r>
          </a:p>
          <a:p>
            <a:r>
              <a:rPr lang="en-US" dirty="0"/>
              <a:t>Aids in strategic shielding placement and technician rotation.</a:t>
            </a:r>
          </a:p>
          <a:p>
            <a:pPr marL="0" indent="0">
              <a:buNone/>
            </a:pPr>
            <a:endParaRPr lang="en-US" dirty="0"/>
          </a:p>
          <a:p>
            <a:pPr marL="0" indent="0">
              <a:buNone/>
            </a:pPr>
            <a:r>
              <a:rPr lang="en-US" b="1" dirty="0"/>
              <a:t>Applications:</a:t>
            </a:r>
            <a:endParaRPr lang="en-US" dirty="0"/>
          </a:p>
          <a:p>
            <a:r>
              <a:rPr lang="en-US" dirty="0"/>
              <a:t>Estimate dose at different positions in operatory.</a:t>
            </a:r>
          </a:p>
          <a:p>
            <a:r>
              <a:rPr lang="en-US" dirty="0"/>
              <a:t>Identify zones of higher radiation for shielding.</a:t>
            </a:r>
          </a:p>
          <a:p>
            <a:r>
              <a:rPr lang="en-US" dirty="0"/>
              <a:t>Educate staff/students on radiation behavior.</a:t>
            </a:r>
          </a:p>
          <a:p>
            <a:endParaRPr lang="en-US" dirty="0"/>
          </a:p>
          <a:p>
            <a:pPr marL="0" indent="0">
              <a:buNone/>
            </a:pPr>
            <a:r>
              <a:rPr lang="en-US" b="1" dirty="0"/>
              <a:t>Important Note:</a:t>
            </a:r>
            <a:endParaRPr lang="en-US" dirty="0"/>
          </a:p>
          <a:p>
            <a:r>
              <a:rPr lang="en-US" dirty="0"/>
              <a:t>Best used as a </a:t>
            </a:r>
            <a:r>
              <a:rPr lang="en-US" b="1" dirty="0"/>
              <a:t>supplementary tool</a:t>
            </a:r>
            <a:r>
              <a:rPr lang="en-US" dirty="0"/>
              <a:t>, not for high-precision audits.</a:t>
            </a:r>
          </a:p>
        </p:txBody>
      </p:sp>
      <p:pic>
        <p:nvPicPr>
          <p:cNvPr id="4098" name="Picture 2" descr="https://radetco.com/wp-content/uploads/2022/01/BASIC-RADIATION-SAFETY.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3177" y="3417471"/>
            <a:ext cx="3601992" cy="2241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9608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Final Verdict – Predictive Utility</a:t>
            </a:r>
          </a:p>
        </p:txBody>
      </p:sp>
      <p:sp>
        <p:nvSpPr>
          <p:cNvPr id="3" name="Content Placeholder 2"/>
          <p:cNvSpPr>
            <a:spLocks noGrp="1"/>
          </p:cNvSpPr>
          <p:nvPr>
            <p:ph idx="1"/>
          </p:nvPr>
        </p:nvSpPr>
        <p:spPr>
          <a:xfrm>
            <a:off x="435430" y="1706880"/>
            <a:ext cx="9614424" cy="4541519"/>
          </a:xfrm>
        </p:spPr>
        <p:txBody>
          <a:bodyPr>
            <a:normAutofit fontScale="85000" lnSpcReduction="20000"/>
          </a:bodyPr>
          <a:lstStyle/>
          <a:p>
            <a:pPr marL="0" indent="0">
              <a:buNone/>
            </a:pPr>
            <a:r>
              <a:rPr lang="en-US" b="1" dirty="0"/>
              <a:t>Conclusion:</a:t>
            </a:r>
            <a:endParaRPr lang="en-US" dirty="0"/>
          </a:p>
          <a:p>
            <a:r>
              <a:rPr lang="en-US" dirty="0"/>
              <a:t>Statistically sound and practically useful for quick dose estimations.</a:t>
            </a:r>
          </a:p>
          <a:p>
            <a:r>
              <a:rPr lang="en-US" dirty="0"/>
              <a:t>Graphical + statistical analysis confirm trend-tracking accuracy.</a:t>
            </a:r>
          </a:p>
          <a:p>
            <a:r>
              <a:rPr lang="en-US" dirty="0"/>
              <a:t>Adapts well to clinical variables: </a:t>
            </a:r>
            <a:r>
              <a:rPr lang="en-US" dirty="0" err="1"/>
              <a:t>kVp</a:t>
            </a:r>
            <a:r>
              <a:rPr lang="en-US" dirty="0"/>
              <a:t>, mA, distance, and angle.</a:t>
            </a:r>
          </a:p>
          <a:p>
            <a:r>
              <a:rPr lang="en-US" dirty="0"/>
              <a:t>Maintains reliability even in diverse scenarios, with no strong bias.</a:t>
            </a:r>
          </a:p>
          <a:p>
            <a:endParaRPr lang="en-US" dirty="0"/>
          </a:p>
          <a:p>
            <a:pPr marL="0" indent="0">
              <a:buNone/>
            </a:pPr>
            <a:r>
              <a:rPr lang="en-US" b="1" dirty="0"/>
              <a:t>Future Improvements:</a:t>
            </a:r>
            <a:endParaRPr lang="en-US" dirty="0"/>
          </a:p>
          <a:p>
            <a:r>
              <a:rPr lang="en-US" dirty="0"/>
              <a:t>Larger datasets.</a:t>
            </a:r>
          </a:p>
          <a:p>
            <a:r>
              <a:rPr lang="en-US" dirty="0"/>
              <a:t>Non-linear models.</a:t>
            </a:r>
          </a:p>
          <a:p>
            <a:r>
              <a:rPr lang="en-US" dirty="0"/>
              <a:t>Integration with imaging software.</a:t>
            </a:r>
          </a:p>
          <a:p>
            <a:endParaRPr lang="en-US" dirty="0"/>
          </a:p>
          <a:p>
            <a:pPr marL="0" indent="0">
              <a:buNone/>
            </a:pPr>
            <a:r>
              <a:rPr lang="en-US" dirty="0"/>
              <a:t> </a:t>
            </a:r>
            <a:r>
              <a:rPr lang="en-US" b="1" dirty="0"/>
              <a:t>Bottom Line:</a:t>
            </a:r>
            <a:br>
              <a:rPr lang="en-US" dirty="0"/>
            </a:br>
            <a:r>
              <a:rPr lang="en-US" dirty="0"/>
              <a:t>A </a:t>
            </a:r>
            <a:r>
              <a:rPr lang="en-US" b="1" dirty="0"/>
              <a:t>simple yet effective</a:t>
            </a:r>
            <a:r>
              <a:rPr lang="en-US" dirty="0"/>
              <a:t> model for enhancing safety, awareness, and planning in dental radiography.</a:t>
            </a:r>
          </a:p>
          <a:p>
            <a:endParaRPr lang="en-US" dirty="0"/>
          </a:p>
        </p:txBody>
      </p:sp>
    </p:spTree>
    <p:extLst>
      <p:ext uri="{BB962C8B-B14F-4D97-AF65-F5344CB8AC3E}">
        <p14:creationId xmlns:p14="http://schemas.microsoft.com/office/powerpoint/2010/main" val="1121225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286487" y="935360"/>
            <a:ext cx="9851775" cy="4562424"/>
          </a:xfrm>
          <a:prstGeom prst="rect">
            <a:avLst/>
          </a:prstGeom>
        </p:spPr>
      </p:pic>
    </p:spTree>
    <p:extLst>
      <p:ext uri="{BB962C8B-B14F-4D97-AF65-F5344CB8AC3E}">
        <p14:creationId xmlns:p14="http://schemas.microsoft.com/office/powerpoint/2010/main" val="39198607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2465" y="2595026"/>
            <a:ext cx="9404723" cy="1400530"/>
          </a:xfrm>
        </p:spPr>
        <p:txBody>
          <a:bodyPr/>
          <a:lstStyle/>
          <a:p>
            <a:pPr algn="ctr"/>
            <a:r>
              <a:rPr lang="en-US" sz="7000" b="1" dirty="0"/>
              <a:t>THANKYOU!</a:t>
            </a:r>
          </a:p>
        </p:txBody>
      </p:sp>
    </p:spTree>
    <p:extLst>
      <p:ext uri="{BB962C8B-B14F-4D97-AF65-F5344CB8AC3E}">
        <p14:creationId xmlns:p14="http://schemas.microsoft.com/office/powerpoint/2010/main" val="6855287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766</TotalTime>
  <Words>2292</Words>
  <Application>Microsoft Office PowerPoint</Application>
  <PresentationFormat>Widescreen</PresentationFormat>
  <Paragraphs>264</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Century Gothic</vt:lpstr>
      <vt:lpstr>Wingdings 3</vt:lpstr>
      <vt:lpstr>Ion</vt:lpstr>
      <vt:lpstr>Radiation Dosimetry of Workers During Different Dental Imaging Procedures</vt:lpstr>
      <vt:lpstr>Problem Identification and Significance</vt:lpstr>
      <vt:lpstr>Performing Dosimetry for Dental Workers</vt:lpstr>
      <vt:lpstr>Literature Review</vt:lpstr>
      <vt:lpstr>Research Gap</vt:lpstr>
      <vt:lpstr>The design shows a layout for a dental X-Ray room optimized for saftey and effective dose management.</vt:lpstr>
      <vt:lpstr>Dosimeters 2011</vt:lpstr>
      <vt:lpstr>Dosimeters</vt:lpstr>
      <vt:lpstr>Methodology</vt:lpstr>
      <vt:lpstr>Methodology – Radiation Dose Measurement in Dental Radiography</vt:lpstr>
      <vt:lpstr>Methodology – Data Collection Process</vt:lpstr>
      <vt:lpstr>Radiation Dose Distribution Around a Phantom at Varying Angles and Distances</vt:lpstr>
      <vt:lpstr>Graphical Analysis</vt:lpstr>
      <vt:lpstr>PowerPoint Presentation</vt:lpstr>
      <vt:lpstr>Graphical Analysis</vt:lpstr>
      <vt:lpstr>PowerPoint Presentation</vt:lpstr>
      <vt:lpstr>Data Volume, Limitations &amp; Graphical Overview</vt:lpstr>
      <vt:lpstr>Interaction of Distance and Angle</vt:lpstr>
      <vt:lpstr>Comparison of Exposure Settings (70 kVp/7 mA vs. 60 kVp/4 mA)</vt:lpstr>
      <vt:lpstr>Data Analysis – Linear Regression</vt:lpstr>
      <vt:lpstr>Analysis</vt:lpstr>
      <vt:lpstr>Analysis</vt:lpstr>
      <vt:lpstr>Linear Regression Model Setup</vt:lpstr>
      <vt:lpstr>Linear Regression Output and Model Fit</vt:lpstr>
      <vt:lpstr>Coefficients and Statistical Significance</vt:lpstr>
      <vt:lpstr>Rationale for Testing Quadratic Regression</vt:lpstr>
      <vt:lpstr>Quadratic Model Results and Failure Indicators</vt:lpstr>
      <vt:lpstr>Causes of Quadratic Model Failure</vt:lpstr>
      <vt:lpstr>Final Evaluation: Linear vs. Quadratic Model</vt:lpstr>
      <vt:lpstr>Model Comparison and Linear Model Strengths</vt:lpstr>
      <vt:lpstr>Quadratic Model Limitations and Final Justification </vt:lpstr>
      <vt:lpstr>Final Model Evaluation – Purpose &amp; Methodology</vt:lpstr>
      <vt:lpstr>Accuracy Assessment of the Model</vt:lpstr>
      <vt:lpstr>Graphical Comparison – Measured vs Predicted</vt:lpstr>
      <vt:lpstr>Quantitative Analysis of Prediction Accuracy</vt:lpstr>
      <vt:lpstr>Error Distribution and Pattern Behavior</vt:lpstr>
      <vt:lpstr>Model Strengths &amp; Weaknesses</vt:lpstr>
      <vt:lpstr>Clinical Use &amp; Safety Impact</vt:lpstr>
      <vt:lpstr>Final Verdict – Predictive Utility</vt:lpstr>
      <vt:lpstr>PowerPoint Presentation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Fayzan Ahmed</cp:lastModifiedBy>
  <cp:revision>35</cp:revision>
  <dcterms:created xsi:type="dcterms:W3CDTF">2025-06-13T21:22:14Z</dcterms:created>
  <dcterms:modified xsi:type="dcterms:W3CDTF">2025-06-16T07:56:21Z</dcterms:modified>
</cp:coreProperties>
</file>